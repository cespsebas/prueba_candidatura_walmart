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7F4E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2283D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7F4E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12283D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7F4E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F7F4E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731519"/>
            <a:ext cx="12189460" cy="6126480"/>
          </a:xfrm>
          <a:custGeom>
            <a:avLst/>
            <a:gdLst/>
            <a:ahLst/>
            <a:cxnLst/>
            <a:rect l="l" t="t" r="r" b="b"/>
            <a:pathLst>
              <a:path w="12189460" h="6126480">
                <a:moveTo>
                  <a:pt x="0" y="6126480"/>
                </a:moveTo>
                <a:lnTo>
                  <a:pt x="12188952" y="6126480"/>
                </a:lnTo>
                <a:lnTo>
                  <a:pt x="12188952" y="0"/>
                </a:lnTo>
                <a:lnTo>
                  <a:pt x="0" y="0"/>
                </a:lnTo>
                <a:lnTo>
                  <a:pt x="0" y="6126480"/>
                </a:lnTo>
                <a:close/>
              </a:path>
            </a:pathLst>
          </a:custGeom>
          <a:solidFill>
            <a:srgbClr val="F7F4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0"/>
            <a:ext cx="12189460" cy="731520"/>
          </a:xfrm>
          <a:custGeom>
            <a:avLst/>
            <a:gdLst/>
            <a:ahLst/>
            <a:cxnLst/>
            <a:rect l="l" t="t" r="r" b="b"/>
            <a:pathLst>
              <a:path w="12189460" h="731520">
                <a:moveTo>
                  <a:pt x="12188952" y="0"/>
                </a:moveTo>
                <a:lnTo>
                  <a:pt x="0" y="0"/>
                </a:lnTo>
                <a:lnTo>
                  <a:pt x="0" y="731520"/>
                </a:lnTo>
                <a:lnTo>
                  <a:pt x="12188952" y="731520"/>
                </a:lnTo>
                <a:lnTo>
                  <a:pt x="12188952" y="0"/>
                </a:lnTo>
                <a:close/>
              </a:path>
            </a:pathLst>
          </a:custGeom>
          <a:solidFill>
            <a:srgbClr val="12283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12189460" cy="731520"/>
          </a:xfrm>
          <a:custGeom>
            <a:avLst/>
            <a:gdLst/>
            <a:ahLst/>
            <a:cxnLst/>
            <a:rect l="l" t="t" r="r" b="b"/>
            <a:pathLst>
              <a:path w="12189460" h="731520">
                <a:moveTo>
                  <a:pt x="0" y="731520"/>
                </a:moveTo>
                <a:lnTo>
                  <a:pt x="12188952" y="731520"/>
                </a:lnTo>
                <a:lnTo>
                  <a:pt x="12188952" y="0"/>
                </a:lnTo>
                <a:lnTo>
                  <a:pt x="0" y="0"/>
                </a:lnTo>
                <a:lnTo>
                  <a:pt x="0" y="731520"/>
                </a:lnTo>
                <a:close/>
              </a:path>
            </a:pathLst>
          </a:custGeom>
          <a:ln w="12700">
            <a:solidFill>
              <a:srgbClr val="12283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32045" y="229857"/>
            <a:ext cx="540258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F7F4ED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1273" y="1586502"/>
            <a:ext cx="11099165" cy="2456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12283D"/>
                </a:solidFill>
                <a:latin typeface="Arial Black"/>
                <a:cs typeface="Arial Black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5713" y="1511553"/>
            <a:ext cx="2738120" cy="1229360"/>
            <a:chOff x="505713" y="1511553"/>
            <a:chExt cx="2738120" cy="1229360"/>
          </a:xfrm>
        </p:grpSpPr>
        <p:sp>
          <p:nvSpPr>
            <p:cNvPr id="3" name="object 3"/>
            <p:cNvSpPr/>
            <p:nvPr/>
          </p:nvSpPr>
          <p:spPr>
            <a:xfrm>
              <a:off x="512063" y="1517903"/>
              <a:ext cx="2725420" cy="1216660"/>
            </a:xfrm>
            <a:custGeom>
              <a:avLst/>
              <a:gdLst/>
              <a:ahLst/>
              <a:cxnLst/>
              <a:rect l="l" t="t" r="r" b="b"/>
              <a:pathLst>
                <a:path w="2725420" h="1216660">
                  <a:moveTo>
                    <a:pt x="2688336" y="0"/>
                  </a:moveTo>
                  <a:lnTo>
                    <a:pt x="36576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5" y="1195577"/>
                  </a:lnTo>
                  <a:lnTo>
                    <a:pt x="9143" y="1207007"/>
                  </a:lnTo>
                  <a:lnTo>
                    <a:pt x="20573" y="1213865"/>
                  </a:lnTo>
                  <a:lnTo>
                    <a:pt x="36576" y="1216152"/>
                  </a:lnTo>
                  <a:lnTo>
                    <a:pt x="2688336" y="1216152"/>
                  </a:lnTo>
                  <a:lnTo>
                    <a:pt x="2704338" y="1213865"/>
                  </a:lnTo>
                  <a:lnTo>
                    <a:pt x="2715768" y="1207007"/>
                  </a:lnTo>
                  <a:lnTo>
                    <a:pt x="2722626" y="1195577"/>
                  </a:lnTo>
                  <a:lnTo>
                    <a:pt x="2724912" y="1179576"/>
                  </a:lnTo>
                  <a:lnTo>
                    <a:pt x="2724912" y="36575"/>
                  </a:lnTo>
                  <a:lnTo>
                    <a:pt x="2722626" y="20574"/>
                  </a:lnTo>
                  <a:lnTo>
                    <a:pt x="2715768" y="9144"/>
                  </a:lnTo>
                  <a:lnTo>
                    <a:pt x="2704338" y="2286"/>
                  </a:lnTo>
                  <a:lnTo>
                    <a:pt x="2688336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12063" y="1517903"/>
              <a:ext cx="2725420" cy="1216660"/>
            </a:xfrm>
            <a:custGeom>
              <a:avLst/>
              <a:gdLst/>
              <a:ahLst/>
              <a:cxnLst/>
              <a:rect l="l" t="t" r="r" b="b"/>
              <a:pathLst>
                <a:path w="2725420" h="1216660">
                  <a:moveTo>
                    <a:pt x="36576" y="1216152"/>
                  </a:moveTo>
                  <a:lnTo>
                    <a:pt x="2688336" y="1216152"/>
                  </a:lnTo>
                  <a:lnTo>
                    <a:pt x="2704338" y="1213865"/>
                  </a:lnTo>
                  <a:lnTo>
                    <a:pt x="2715768" y="1207007"/>
                  </a:lnTo>
                  <a:lnTo>
                    <a:pt x="2722626" y="1195577"/>
                  </a:lnTo>
                  <a:lnTo>
                    <a:pt x="2724912" y="1179576"/>
                  </a:lnTo>
                  <a:lnTo>
                    <a:pt x="2724912" y="36575"/>
                  </a:lnTo>
                  <a:lnTo>
                    <a:pt x="2722626" y="20574"/>
                  </a:lnTo>
                  <a:lnTo>
                    <a:pt x="2715768" y="9144"/>
                  </a:lnTo>
                  <a:lnTo>
                    <a:pt x="2704338" y="2286"/>
                  </a:lnTo>
                  <a:lnTo>
                    <a:pt x="2688336" y="0"/>
                  </a:lnTo>
                  <a:lnTo>
                    <a:pt x="36576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5" y="1195577"/>
                  </a:lnTo>
                  <a:lnTo>
                    <a:pt x="9143" y="1207007"/>
                  </a:lnTo>
                  <a:lnTo>
                    <a:pt x="20573" y="1213865"/>
                  </a:lnTo>
                  <a:lnTo>
                    <a:pt x="36576" y="121615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8639" y="1554479"/>
              <a:ext cx="2651760" cy="36830"/>
            </a:xfrm>
            <a:custGeom>
              <a:avLst/>
              <a:gdLst/>
              <a:ahLst/>
              <a:cxnLst/>
              <a:rect l="l" t="t" r="r" b="b"/>
              <a:pathLst>
                <a:path w="2651760" h="36830">
                  <a:moveTo>
                    <a:pt x="265176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2651760" y="36575"/>
                  </a:lnTo>
                  <a:lnTo>
                    <a:pt x="2651760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8639" y="1554479"/>
              <a:ext cx="2651760" cy="36830"/>
            </a:xfrm>
            <a:custGeom>
              <a:avLst/>
              <a:gdLst/>
              <a:ahLst/>
              <a:cxnLst/>
              <a:rect l="l" t="t" r="r" b="b"/>
              <a:pathLst>
                <a:path w="2651760" h="36830">
                  <a:moveTo>
                    <a:pt x="0" y="36575"/>
                  </a:moveTo>
                  <a:lnTo>
                    <a:pt x="2651760" y="36575"/>
                  </a:lnTo>
                  <a:lnTo>
                    <a:pt x="265176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3340353" y="1511553"/>
            <a:ext cx="2738120" cy="1229360"/>
            <a:chOff x="3340353" y="1511553"/>
            <a:chExt cx="2738120" cy="1229360"/>
          </a:xfrm>
        </p:grpSpPr>
        <p:sp>
          <p:nvSpPr>
            <p:cNvPr id="8" name="object 8"/>
            <p:cNvSpPr/>
            <p:nvPr/>
          </p:nvSpPr>
          <p:spPr>
            <a:xfrm>
              <a:off x="3346703" y="1517903"/>
              <a:ext cx="2725420" cy="1216660"/>
            </a:xfrm>
            <a:custGeom>
              <a:avLst/>
              <a:gdLst/>
              <a:ahLst/>
              <a:cxnLst/>
              <a:rect l="l" t="t" r="r" b="b"/>
              <a:pathLst>
                <a:path w="2725420" h="1216660">
                  <a:moveTo>
                    <a:pt x="2688336" y="0"/>
                  </a:move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6" y="1195577"/>
                  </a:lnTo>
                  <a:lnTo>
                    <a:pt x="9144" y="1207007"/>
                  </a:lnTo>
                  <a:lnTo>
                    <a:pt x="20574" y="1213865"/>
                  </a:lnTo>
                  <a:lnTo>
                    <a:pt x="36575" y="1216152"/>
                  </a:lnTo>
                  <a:lnTo>
                    <a:pt x="2688336" y="1216152"/>
                  </a:lnTo>
                  <a:lnTo>
                    <a:pt x="2704338" y="1213865"/>
                  </a:lnTo>
                  <a:lnTo>
                    <a:pt x="2715767" y="1207007"/>
                  </a:lnTo>
                  <a:lnTo>
                    <a:pt x="2722626" y="1195577"/>
                  </a:lnTo>
                  <a:lnTo>
                    <a:pt x="2724912" y="1179576"/>
                  </a:lnTo>
                  <a:lnTo>
                    <a:pt x="2724912" y="36575"/>
                  </a:lnTo>
                  <a:lnTo>
                    <a:pt x="2722626" y="20574"/>
                  </a:lnTo>
                  <a:lnTo>
                    <a:pt x="2715767" y="9144"/>
                  </a:lnTo>
                  <a:lnTo>
                    <a:pt x="2704338" y="2286"/>
                  </a:lnTo>
                  <a:lnTo>
                    <a:pt x="2688336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346703" y="1517903"/>
              <a:ext cx="2725420" cy="1216660"/>
            </a:xfrm>
            <a:custGeom>
              <a:avLst/>
              <a:gdLst/>
              <a:ahLst/>
              <a:cxnLst/>
              <a:rect l="l" t="t" r="r" b="b"/>
              <a:pathLst>
                <a:path w="2725420" h="1216660">
                  <a:moveTo>
                    <a:pt x="36575" y="1216152"/>
                  </a:moveTo>
                  <a:lnTo>
                    <a:pt x="2688336" y="1216152"/>
                  </a:lnTo>
                  <a:lnTo>
                    <a:pt x="2704338" y="1213865"/>
                  </a:lnTo>
                  <a:lnTo>
                    <a:pt x="2715767" y="1207007"/>
                  </a:lnTo>
                  <a:lnTo>
                    <a:pt x="2722626" y="1195577"/>
                  </a:lnTo>
                  <a:lnTo>
                    <a:pt x="2724912" y="1179576"/>
                  </a:lnTo>
                  <a:lnTo>
                    <a:pt x="2724912" y="36575"/>
                  </a:lnTo>
                  <a:lnTo>
                    <a:pt x="2722626" y="20574"/>
                  </a:lnTo>
                  <a:lnTo>
                    <a:pt x="2715767" y="9144"/>
                  </a:lnTo>
                  <a:lnTo>
                    <a:pt x="2704338" y="2286"/>
                  </a:lnTo>
                  <a:lnTo>
                    <a:pt x="2688336" y="0"/>
                  </a:ln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6" y="1195577"/>
                  </a:lnTo>
                  <a:lnTo>
                    <a:pt x="9144" y="1207007"/>
                  </a:lnTo>
                  <a:lnTo>
                    <a:pt x="20574" y="1213865"/>
                  </a:lnTo>
                  <a:lnTo>
                    <a:pt x="36575" y="121615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383279" y="1554479"/>
              <a:ext cx="2651760" cy="36830"/>
            </a:xfrm>
            <a:custGeom>
              <a:avLst/>
              <a:gdLst/>
              <a:ahLst/>
              <a:cxnLst/>
              <a:rect l="l" t="t" r="r" b="b"/>
              <a:pathLst>
                <a:path w="2651760" h="36830">
                  <a:moveTo>
                    <a:pt x="265176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2651760" y="36575"/>
                  </a:lnTo>
                  <a:lnTo>
                    <a:pt x="2651760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383279" y="1554479"/>
              <a:ext cx="2651760" cy="36830"/>
            </a:xfrm>
            <a:custGeom>
              <a:avLst/>
              <a:gdLst/>
              <a:ahLst/>
              <a:cxnLst/>
              <a:rect l="l" t="t" r="r" b="b"/>
              <a:pathLst>
                <a:path w="2651760" h="36830">
                  <a:moveTo>
                    <a:pt x="0" y="36575"/>
                  </a:moveTo>
                  <a:lnTo>
                    <a:pt x="2651760" y="36575"/>
                  </a:lnTo>
                  <a:lnTo>
                    <a:pt x="265176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6174994" y="1511553"/>
            <a:ext cx="2738120" cy="1229360"/>
            <a:chOff x="6174994" y="1511553"/>
            <a:chExt cx="2738120" cy="1229360"/>
          </a:xfrm>
        </p:grpSpPr>
        <p:sp>
          <p:nvSpPr>
            <p:cNvPr id="13" name="object 13"/>
            <p:cNvSpPr/>
            <p:nvPr/>
          </p:nvSpPr>
          <p:spPr>
            <a:xfrm>
              <a:off x="6181344" y="1517903"/>
              <a:ext cx="2725420" cy="1216660"/>
            </a:xfrm>
            <a:custGeom>
              <a:avLst/>
              <a:gdLst/>
              <a:ahLst/>
              <a:cxnLst/>
              <a:rect l="l" t="t" r="r" b="b"/>
              <a:pathLst>
                <a:path w="2725420" h="1216660">
                  <a:moveTo>
                    <a:pt x="2688335" y="0"/>
                  </a:move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6" y="1195577"/>
                  </a:lnTo>
                  <a:lnTo>
                    <a:pt x="9144" y="1207007"/>
                  </a:lnTo>
                  <a:lnTo>
                    <a:pt x="20574" y="1213865"/>
                  </a:lnTo>
                  <a:lnTo>
                    <a:pt x="36575" y="1216152"/>
                  </a:lnTo>
                  <a:lnTo>
                    <a:pt x="2688335" y="1216152"/>
                  </a:lnTo>
                  <a:lnTo>
                    <a:pt x="2704337" y="1213865"/>
                  </a:lnTo>
                  <a:lnTo>
                    <a:pt x="2715767" y="1207007"/>
                  </a:lnTo>
                  <a:lnTo>
                    <a:pt x="2722625" y="1195577"/>
                  </a:lnTo>
                  <a:lnTo>
                    <a:pt x="2724911" y="1179576"/>
                  </a:lnTo>
                  <a:lnTo>
                    <a:pt x="2724911" y="36575"/>
                  </a:lnTo>
                  <a:lnTo>
                    <a:pt x="2722626" y="20574"/>
                  </a:lnTo>
                  <a:lnTo>
                    <a:pt x="2715768" y="9144"/>
                  </a:lnTo>
                  <a:lnTo>
                    <a:pt x="2704338" y="2286"/>
                  </a:lnTo>
                  <a:lnTo>
                    <a:pt x="2688335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181344" y="1517903"/>
              <a:ext cx="2725420" cy="1216660"/>
            </a:xfrm>
            <a:custGeom>
              <a:avLst/>
              <a:gdLst/>
              <a:ahLst/>
              <a:cxnLst/>
              <a:rect l="l" t="t" r="r" b="b"/>
              <a:pathLst>
                <a:path w="2725420" h="1216660">
                  <a:moveTo>
                    <a:pt x="36575" y="1216152"/>
                  </a:moveTo>
                  <a:lnTo>
                    <a:pt x="2688335" y="1216152"/>
                  </a:lnTo>
                  <a:lnTo>
                    <a:pt x="2704337" y="1213865"/>
                  </a:lnTo>
                  <a:lnTo>
                    <a:pt x="2715767" y="1207007"/>
                  </a:lnTo>
                  <a:lnTo>
                    <a:pt x="2722625" y="1195577"/>
                  </a:lnTo>
                  <a:lnTo>
                    <a:pt x="2724911" y="1179576"/>
                  </a:lnTo>
                  <a:lnTo>
                    <a:pt x="2724911" y="36575"/>
                  </a:lnTo>
                  <a:lnTo>
                    <a:pt x="2722626" y="20574"/>
                  </a:lnTo>
                  <a:lnTo>
                    <a:pt x="2715768" y="9144"/>
                  </a:lnTo>
                  <a:lnTo>
                    <a:pt x="2704338" y="2286"/>
                  </a:lnTo>
                  <a:lnTo>
                    <a:pt x="2688335" y="0"/>
                  </a:ln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6" y="1195577"/>
                  </a:lnTo>
                  <a:lnTo>
                    <a:pt x="9144" y="1207007"/>
                  </a:lnTo>
                  <a:lnTo>
                    <a:pt x="20574" y="1213865"/>
                  </a:lnTo>
                  <a:lnTo>
                    <a:pt x="36575" y="121615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217920" y="1554479"/>
              <a:ext cx="2651760" cy="36830"/>
            </a:xfrm>
            <a:custGeom>
              <a:avLst/>
              <a:gdLst/>
              <a:ahLst/>
              <a:cxnLst/>
              <a:rect l="l" t="t" r="r" b="b"/>
              <a:pathLst>
                <a:path w="2651759" h="36830">
                  <a:moveTo>
                    <a:pt x="2651759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2651759" y="36575"/>
                  </a:lnTo>
                  <a:lnTo>
                    <a:pt x="2651759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6217920" y="1554479"/>
              <a:ext cx="2651760" cy="36830"/>
            </a:xfrm>
            <a:custGeom>
              <a:avLst/>
              <a:gdLst/>
              <a:ahLst/>
              <a:cxnLst/>
              <a:rect l="l" t="t" r="r" b="b"/>
              <a:pathLst>
                <a:path w="2651759" h="36830">
                  <a:moveTo>
                    <a:pt x="0" y="36575"/>
                  </a:moveTo>
                  <a:lnTo>
                    <a:pt x="2651759" y="36575"/>
                  </a:lnTo>
                  <a:lnTo>
                    <a:pt x="2651759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9009633" y="1511553"/>
            <a:ext cx="2738120" cy="1229360"/>
            <a:chOff x="9009633" y="1511553"/>
            <a:chExt cx="2738120" cy="1229360"/>
          </a:xfrm>
        </p:grpSpPr>
        <p:sp>
          <p:nvSpPr>
            <p:cNvPr id="18" name="object 18"/>
            <p:cNvSpPr/>
            <p:nvPr/>
          </p:nvSpPr>
          <p:spPr>
            <a:xfrm>
              <a:off x="9015983" y="1517903"/>
              <a:ext cx="2725420" cy="1216660"/>
            </a:xfrm>
            <a:custGeom>
              <a:avLst/>
              <a:gdLst/>
              <a:ahLst/>
              <a:cxnLst/>
              <a:rect l="l" t="t" r="r" b="b"/>
              <a:pathLst>
                <a:path w="2725420" h="1216660">
                  <a:moveTo>
                    <a:pt x="2688336" y="0"/>
                  </a:move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5" y="1195577"/>
                  </a:lnTo>
                  <a:lnTo>
                    <a:pt x="9143" y="1207007"/>
                  </a:lnTo>
                  <a:lnTo>
                    <a:pt x="20573" y="1213865"/>
                  </a:lnTo>
                  <a:lnTo>
                    <a:pt x="36575" y="1216152"/>
                  </a:lnTo>
                  <a:lnTo>
                    <a:pt x="2688336" y="1216152"/>
                  </a:lnTo>
                  <a:lnTo>
                    <a:pt x="2704338" y="1213865"/>
                  </a:lnTo>
                  <a:lnTo>
                    <a:pt x="2715768" y="1207007"/>
                  </a:lnTo>
                  <a:lnTo>
                    <a:pt x="2722626" y="1195577"/>
                  </a:lnTo>
                  <a:lnTo>
                    <a:pt x="2724912" y="1179576"/>
                  </a:lnTo>
                  <a:lnTo>
                    <a:pt x="2724912" y="36575"/>
                  </a:lnTo>
                  <a:lnTo>
                    <a:pt x="2722626" y="20574"/>
                  </a:lnTo>
                  <a:lnTo>
                    <a:pt x="2715768" y="9144"/>
                  </a:lnTo>
                  <a:lnTo>
                    <a:pt x="2704338" y="2286"/>
                  </a:lnTo>
                  <a:lnTo>
                    <a:pt x="2688336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9015983" y="1517903"/>
              <a:ext cx="2725420" cy="1216660"/>
            </a:xfrm>
            <a:custGeom>
              <a:avLst/>
              <a:gdLst/>
              <a:ahLst/>
              <a:cxnLst/>
              <a:rect l="l" t="t" r="r" b="b"/>
              <a:pathLst>
                <a:path w="2725420" h="1216660">
                  <a:moveTo>
                    <a:pt x="36575" y="1216152"/>
                  </a:moveTo>
                  <a:lnTo>
                    <a:pt x="2688336" y="1216152"/>
                  </a:lnTo>
                  <a:lnTo>
                    <a:pt x="2704338" y="1213865"/>
                  </a:lnTo>
                  <a:lnTo>
                    <a:pt x="2715768" y="1207007"/>
                  </a:lnTo>
                  <a:lnTo>
                    <a:pt x="2722626" y="1195577"/>
                  </a:lnTo>
                  <a:lnTo>
                    <a:pt x="2724912" y="1179576"/>
                  </a:lnTo>
                  <a:lnTo>
                    <a:pt x="2724912" y="36575"/>
                  </a:lnTo>
                  <a:lnTo>
                    <a:pt x="2722626" y="20574"/>
                  </a:lnTo>
                  <a:lnTo>
                    <a:pt x="2715768" y="9144"/>
                  </a:lnTo>
                  <a:lnTo>
                    <a:pt x="2704338" y="2286"/>
                  </a:lnTo>
                  <a:lnTo>
                    <a:pt x="2688336" y="0"/>
                  </a:ln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5" y="1195577"/>
                  </a:lnTo>
                  <a:lnTo>
                    <a:pt x="9143" y="1207007"/>
                  </a:lnTo>
                  <a:lnTo>
                    <a:pt x="20573" y="1213865"/>
                  </a:lnTo>
                  <a:lnTo>
                    <a:pt x="36575" y="121615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052559" y="1554479"/>
              <a:ext cx="2651760" cy="36830"/>
            </a:xfrm>
            <a:custGeom>
              <a:avLst/>
              <a:gdLst/>
              <a:ahLst/>
              <a:cxnLst/>
              <a:rect l="l" t="t" r="r" b="b"/>
              <a:pathLst>
                <a:path w="2651759" h="36830">
                  <a:moveTo>
                    <a:pt x="265176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2651760" y="36575"/>
                  </a:lnTo>
                  <a:lnTo>
                    <a:pt x="2651760" y="0"/>
                  </a:lnTo>
                  <a:close/>
                </a:path>
              </a:pathLst>
            </a:custGeom>
            <a:solidFill>
              <a:srgbClr val="E66E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052559" y="1554479"/>
              <a:ext cx="2651760" cy="36830"/>
            </a:xfrm>
            <a:custGeom>
              <a:avLst/>
              <a:gdLst/>
              <a:ahLst/>
              <a:cxnLst/>
              <a:rect l="l" t="t" r="r" b="b"/>
              <a:pathLst>
                <a:path w="2651759" h="36830">
                  <a:moveTo>
                    <a:pt x="0" y="36575"/>
                  </a:moveTo>
                  <a:lnTo>
                    <a:pt x="2651760" y="36575"/>
                  </a:lnTo>
                  <a:lnTo>
                    <a:pt x="265176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66E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-6350" y="706881"/>
            <a:ext cx="12202160" cy="49530"/>
            <a:chOff x="-6350" y="706881"/>
            <a:chExt cx="12202160" cy="49530"/>
          </a:xfrm>
        </p:grpSpPr>
        <p:sp>
          <p:nvSpPr>
            <p:cNvPr id="23" name="object 23"/>
            <p:cNvSpPr/>
            <p:nvPr/>
          </p:nvSpPr>
          <p:spPr>
            <a:xfrm>
              <a:off x="0" y="713231"/>
              <a:ext cx="12189460" cy="36830"/>
            </a:xfrm>
            <a:custGeom>
              <a:avLst/>
              <a:gdLst/>
              <a:ahLst/>
              <a:cxnLst/>
              <a:rect l="l" t="t" r="r" b="b"/>
              <a:pathLst>
                <a:path w="12189460" h="36829">
                  <a:moveTo>
                    <a:pt x="12188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12188952" y="3657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0" y="713231"/>
              <a:ext cx="12189460" cy="36830"/>
            </a:xfrm>
            <a:custGeom>
              <a:avLst/>
              <a:gdLst/>
              <a:ahLst/>
              <a:cxnLst/>
              <a:rect l="l" t="t" r="r" b="b"/>
              <a:pathLst>
                <a:path w="12189460" h="36829">
                  <a:moveTo>
                    <a:pt x="0" y="36575"/>
                  </a:moveTo>
                  <a:lnTo>
                    <a:pt x="12188952" y="36575"/>
                  </a:lnTo>
                  <a:lnTo>
                    <a:pt x="12188952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699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35940" y="78473"/>
            <a:ext cx="3824604" cy="5441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295"/>
              </a:lnSpc>
              <a:spcBef>
                <a:spcPts val="90"/>
              </a:spcBef>
            </a:pPr>
            <a:r>
              <a:rPr dirty="0" sz="1150" spc="-150">
                <a:solidFill>
                  <a:srgbClr val="E9C469"/>
                </a:solidFill>
                <a:latin typeface="Arial Black"/>
                <a:cs typeface="Arial Black"/>
              </a:rPr>
              <a:t>EXECUTIVE</a:t>
            </a:r>
            <a:r>
              <a:rPr dirty="0" sz="1150" spc="45">
                <a:solidFill>
                  <a:srgbClr val="E9C469"/>
                </a:solidFill>
                <a:latin typeface="Arial Black"/>
                <a:cs typeface="Arial Black"/>
              </a:rPr>
              <a:t> </a:t>
            </a:r>
            <a:r>
              <a:rPr dirty="0" sz="1150" spc="-10">
                <a:solidFill>
                  <a:srgbClr val="E9C469"/>
                </a:solidFill>
                <a:latin typeface="Arial Black"/>
                <a:cs typeface="Arial Black"/>
              </a:rPr>
              <a:t>SUMMARY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ts val="2795"/>
              </a:lnSpc>
            </a:pPr>
            <a:r>
              <a:rPr dirty="0" sz="2400" spc="-145" b="1">
                <a:solidFill>
                  <a:srgbClr val="F7F4ED"/>
                </a:solidFill>
                <a:latin typeface="Verdana"/>
                <a:cs typeface="Verdana"/>
              </a:rPr>
              <a:t>Retail</a:t>
            </a:r>
            <a:r>
              <a:rPr dirty="0" sz="2400" spc="-55" b="1">
                <a:solidFill>
                  <a:srgbClr val="F7F4ED"/>
                </a:solidFill>
                <a:latin typeface="Verdana"/>
                <a:cs typeface="Verdana"/>
              </a:rPr>
              <a:t> </a:t>
            </a:r>
            <a:r>
              <a:rPr dirty="0" sz="2400" spc="-200" b="1">
                <a:solidFill>
                  <a:srgbClr val="F7F4ED"/>
                </a:solidFill>
                <a:latin typeface="Verdana"/>
                <a:cs typeface="Verdana"/>
              </a:rPr>
              <a:t>Operations</a:t>
            </a:r>
            <a:r>
              <a:rPr dirty="0" sz="2400" spc="-50" b="1">
                <a:solidFill>
                  <a:srgbClr val="F7F4ED"/>
                </a:solidFill>
                <a:latin typeface="Verdana"/>
                <a:cs typeface="Verdana"/>
              </a:rPr>
              <a:t> </a:t>
            </a:r>
            <a:r>
              <a:rPr dirty="0" sz="2400" spc="-195" b="1">
                <a:solidFill>
                  <a:srgbClr val="F7F4ED"/>
                </a:solidFill>
                <a:latin typeface="Verdana"/>
                <a:cs typeface="Verdana"/>
              </a:rPr>
              <a:t>Review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6" name="object 26" descr="$PPTXTitle"/>
          <p:cNvSpPr txBox="1">
            <a:spLocks noGrp="1"/>
          </p:cNvSpPr>
          <p:nvPr>
            <p:ph type="title"/>
          </p:nvPr>
        </p:nvSpPr>
        <p:spPr>
          <a:xfrm>
            <a:off x="4944747" y="231742"/>
            <a:ext cx="2481580" cy="3911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60"/>
              <a:t>Central</a:t>
            </a:r>
            <a:r>
              <a:rPr dirty="0" spc="-40"/>
              <a:t> </a:t>
            </a:r>
            <a:r>
              <a:rPr dirty="0" spc="-160"/>
              <a:t>America</a:t>
            </a:r>
          </a:p>
        </p:txBody>
      </p:sp>
      <p:sp>
        <p:nvSpPr>
          <p:cNvPr id="27" name="object 27"/>
          <p:cNvSpPr/>
          <p:nvPr/>
        </p:nvSpPr>
        <p:spPr>
          <a:xfrm>
            <a:off x="4519526" y="462598"/>
            <a:ext cx="238125" cy="31750"/>
          </a:xfrm>
          <a:custGeom>
            <a:avLst/>
            <a:gdLst/>
            <a:ahLst/>
            <a:cxnLst/>
            <a:rect l="l" t="t" r="r" b="b"/>
            <a:pathLst>
              <a:path w="238125" h="31750">
                <a:moveTo>
                  <a:pt x="237896" y="0"/>
                </a:moveTo>
                <a:lnTo>
                  <a:pt x="0" y="0"/>
                </a:lnTo>
                <a:lnTo>
                  <a:pt x="0" y="31203"/>
                </a:lnTo>
                <a:lnTo>
                  <a:pt x="237896" y="31203"/>
                </a:lnTo>
                <a:lnTo>
                  <a:pt x="237896" y="0"/>
                </a:lnTo>
                <a:close/>
              </a:path>
            </a:pathLst>
          </a:custGeom>
          <a:solidFill>
            <a:srgbClr val="F7F4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1375349" y="277855"/>
            <a:ext cx="24511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35">
                <a:solidFill>
                  <a:srgbClr val="7C92A3"/>
                </a:solidFill>
                <a:latin typeface="Verdana"/>
                <a:cs typeface="Verdana"/>
              </a:rPr>
              <a:t>1/5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5940" y="1047717"/>
            <a:ext cx="479488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607185" algn="l"/>
                <a:tab pos="1803400" algn="l"/>
                <a:tab pos="2853690" algn="l"/>
                <a:tab pos="4049395" algn="l"/>
              </a:tabLst>
            </a:pPr>
            <a:r>
              <a:rPr dirty="0" sz="1350" spc="-140">
                <a:solidFill>
                  <a:srgbClr val="6A7B86"/>
                </a:solidFill>
                <a:latin typeface="Verdana"/>
                <a:cs typeface="Verdana"/>
              </a:rPr>
              <a:t>H1</a:t>
            </a:r>
            <a:r>
              <a:rPr dirty="0" sz="1350" spc="-2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350" spc="-105">
                <a:solidFill>
                  <a:srgbClr val="6A7B86"/>
                </a:solidFill>
                <a:latin typeface="Verdana"/>
                <a:cs typeface="Verdana"/>
              </a:rPr>
              <a:t>2024</a:t>
            </a:r>
            <a:r>
              <a:rPr dirty="0" sz="1350" spc="-8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350" spc="-220">
                <a:solidFill>
                  <a:srgbClr val="6A7B86"/>
                </a:solidFill>
                <a:latin typeface="Verdana"/>
                <a:cs typeface="Verdana"/>
              </a:rPr>
              <a:t>-</a:t>
            </a:r>
            <a:r>
              <a:rPr dirty="0" sz="135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350" spc="-140">
                <a:solidFill>
                  <a:srgbClr val="6A7B86"/>
                </a:solidFill>
                <a:latin typeface="Verdana"/>
                <a:cs typeface="Verdana"/>
              </a:rPr>
              <a:t>H1</a:t>
            </a:r>
            <a:r>
              <a:rPr dirty="0" sz="1350" spc="-2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350" spc="-20">
                <a:solidFill>
                  <a:srgbClr val="6A7B86"/>
                </a:solidFill>
                <a:latin typeface="Verdana"/>
                <a:cs typeface="Verdana"/>
              </a:rPr>
              <a:t>2025</a:t>
            </a:r>
            <a:r>
              <a:rPr dirty="0" sz="1350">
                <a:solidFill>
                  <a:srgbClr val="6A7B86"/>
                </a:solidFill>
                <a:latin typeface="Verdana"/>
                <a:cs typeface="Verdana"/>
              </a:rPr>
              <a:t>	</a:t>
            </a:r>
            <a:r>
              <a:rPr dirty="0" sz="1350" spc="-420">
                <a:solidFill>
                  <a:srgbClr val="6A7B86"/>
                </a:solidFill>
                <a:latin typeface="Verdana"/>
                <a:cs typeface="Verdana"/>
              </a:rPr>
              <a:t>|</a:t>
            </a:r>
            <a:r>
              <a:rPr dirty="0" sz="1350">
                <a:solidFill>
                  <a:srgbClr val="6A7B86"/>
                </a:solidFill>
                <a:latin typeface="Verdana"/>
                <a:cs typeface="Verdana"/>
              </a:rPr>
              <a:t>	</a:t>
            </a:r>
            <a:r>
              <a:rPr dirty="0" sz="1350" spc="-120">
                <a:solidFill>
                  <a:srgbClr val="6A7B86"/>
                </a:solidFill>
                <a:latin typeface="Verdana"/>
                <a:cs typeface="Verdana"/>
              </a:rPr>
              <a:t>40</a:t>
            </a:r>
            <a:r>
              <a:rPr dirty="0" sz="135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350" spc="-25">
                <a:solidFill>
                  <a:srgbClr val="6A7B86"/>
                </a:solidFill>
                <a:latin typeface="Verdana"/>
                <a:cs typeface="Verdana"/>
              </a:rPr>
              <a:t>stores</a:t>
            </a:r>
            <a:r>
              <a:rPr dirty="0" sz="1350" spc="32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350" spc="-409">
                <a:solidFill>
                  <a:srgbClr val="6A7B86"/>
                </a:solidFill>
                <a:latin typeface="Verdana"/>
                <a:cs typeface="Verdana"/>
              </a:rPr>
              <a:t>|</a:t>
            </a:r>
            <a:r>
              <a:rPr dirty="0" sz="1350">
                <a:solidFill>
                  <a:srgbClr val="6A7B86"/>
                </a:solidFill>
                <a:latin typeface="Verdana"/>
                <a:cs typeface="Verdana"/>
              </a:rPr>
              <a:t>	</a:t>
            </a:r>
            <a:r>
              <a:rPr dirty="0" sz="1350" spc="-155">
                <a:solidFill>
                  <a:srgbClr val="6A7B86"/>
                </a:solidFill>
                <a:latin typeface="Verdana"/>
                <a:cs typeface="Verdana"/>
              </a:rPr>
              <a:t>5</a:t>
            </a:r>
            <a:r>
              <a:rPr dirty="0" sz="135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350" spc="-40">
                <a:solidFill>
                  <a:srgbClr val="6A7B86"/>
                </a:solidFill>
                <a:latin typeface="Verdana"/>
                <a:cs typeface="Verdana"/>
              </a:rPr>
              <a:t>countries</a:t>
            </a:r>
            <a:r>
              <a:rPr dirty="0" sz="1350" spc="33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350" spc="-409">
                <a:solidFill>
                  <a:srgbClr val="6A7B86"/>
                </a:solidFill>
                <a:latin typeface="Verdana"/>
                <a:cs typeface="Verdana"/>
              </a:rPr>
              <a:t>|</a:t>
            </a:r>
            <a:r>
              <a:rPr dirty="0" sz="1350">
                <a:solidFill>
                  <a:srgbClr val="6A7B86"/>
                </a:solidFill>
                <a:latin typeface="Verdana"/>
                <a:cs typeface="Verdana"/>
              </a:rPr>
              <a:t>	</a:t>
            </a:r>
            <a:r>
              <a:rPr dirty="0" sz="1350" spc="-110">
                <a:solidFill>
                  <a:srgbClr val="6A7B86"/>
                </a:solidFill>
                <a:latin typeface="Verdana"/>
                <a:cs typeface="Verdana"/>
              </a:rPr>
              <a:t>4</a:t>
            </a:r>
            <a:r>
              <a:rPr dirty="0" sz="1350" spc="-8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350" spc="-90">
                <a:solidFill>
                  <a:srgbClr val="6A7B86"/>
                </a:solidFill>
                <a:latin typeface="Verdana"/>
                <a:cs typeface="Verdana"/>
              </a:rPr>
              <a:t>formats</a:t>
            </a:r>
            <a:endParaRPr sz="135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18413" y="1696578"/>
            <a:ext cx="2712720" cy="783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105"/>
              </a:spcBef>
            </a:pPr>
            <a:r>
              <a:rPr dirty="0" sz="2850" spc="-35" b="1">
                <a:solidFill>
                  <a:srgbClr val="2A9C8E"/>
                </a:solidFill>
                <a:latin typeface="Verdana"/>
                <a:cs typeface="Verdana"/>
              </a:rPr>
              <a:t>$47.8M</a:t>
            </a:r>
            <a:endParaRPr sz="2850">
              <a:latin typeface="Verdana"/>
              <a:cs typeface="Verdana"/>
            </a:endParaRPr>
          </a:p>
          <a:p>
            <a:pPr marL="258445">
              <a:lnSpc>
                <a:spcPct val="100000"/>
              </a:lnSpc>
              <a:spcBef>
                <a:spcPts val="1275"/>
              </a:spcBef>
            </a:pPr>
            <a:r>
              <a:rPr dirty="0" sz="1050" spc="-105">
                <a:solidFill>
                  <a:srgbClr val="6A7B86"/>
                </a:solidFill>
                <a:latin typeface="Verdana"/>
                <a:cs typeface="Verdana"/>
              </a:rPr>
              <a:t>Total</a:t>
            </a:r>
            <a:r>
              <a:rPr dirty="0" sz="1050" spc="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6A7B86"/>
                </a:solidFill>
                <a:latin typeface="Verdana"/>
                <a:cs typeface="Verdana"/>
              </a:rPr>
              <a:t>GMV</a:t>
            </a:r>
            <a:r>
              <a:rPr dirty="0" sz="1050" spc="-10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95">
                <a:solidFill>
                  <a:srgbClr val="6A7B86"/>
                </a:solidFill>
                <a:latin typeface="Verdana"/>
                <a:cs typeface="Verdana"/>
              </a:rPr>
              <a:t>(18</a:t>
            </a:r>
            <a:r>
              <a:rPr dirty="0" sz="1050" spc="-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6A7B86"/>
                </a:solidFill>
                <a:latin typeface="Verdana"/>
                <a:cs typeface="Verdana"/>
              </a:rPr>
              <a:t>months)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599179" y="1696578"/>
            <a:ext cx="4520565" cy="783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50" spc="-285" b="1">
                <a:solidFill>
                  <a:srgbClr val="2A9C8E"/>
                </a:solidFill>
                <a:latin typeface="Verdana"/>
                <a:cs typeface="Verdana"/>
              </a:rPr>
              <a:t>+4.8</a:t>
            </a:r>
            <a:r>
              <a:rPr dirty="0" sz="2850" spc="-110" b="1">
                <a:solidFill>
                  <a:srgbClr val="2A9C8E"/>
                </a:solidFill>
                <a:latin typeface="Verdana"/>
                <a:cs typeface="Verdana"/>
              </a:rPr>
              <a:t> </a:t>
            </a:r>
            <a:r>
              <a:rPr dirty="0" sz="2850" spc="-210" b="1">
                <a:solidFill>
                  <a:srgbClr val="2A9C8E"/>
                </a:solidFill>
                <a:latin typeface="Verdana"/>
                <a:cs typeface="Verdana"/>
              </a:rPr>
              <a:t>to</a:t>
            </a:r>
            <a:r>
              <a:rPr dirty="0" sz="2850" spc="-145" b="1">
                <a:solidFill>
                  <a:srgbClr val="2A9C8E"/>
                </a:solidFill>
                <a:latin typeface="Verdana"/>
                <a:cs typeface="Verdana"/>
              </a:rPr>
              <a:t> </a:t>
            </a:r>
            <a:r>
              <a:rPr dirty="0" sz="2850" spc="-405" b="1">
                <a:solidFill>
                  <a:srgbClr val="2A9C8E"/>
                </a:solidFill>
                <a:latin typeface="Verdana"/>
                <a:cs typeface="Verdana"/>
              </a:rPr>
              <a:t>+11.6%</a:t>
            </a:r>
            <a:r>
              <a:rPr dirty="0" sz="2850" spc="-480" b="1">
                <a:solidFill>
                  <a:srgbClr val="2A9C8E"/>
                </a:solidFill>
                <a:latin typeface="Verdana"/>
                <a:cs typeface="Verdana"/>
              </a:rPr>
              <a:t> </a:t>
            </a:r>
            <a:r>
              <a:rPr dirty="0" sz="2850" spc="-530" b="1">
                <a:solidFill>
                  <a:srgbClr val="2A9C8E"/>
                </a:solidFill>
                <a:latin typeface="Verdana"/>
                <a:cs typeface="Verdana"/>
              </a:rPr>
              <a:t>+10%</a:t>
            </a:r>
            <a:endParaRPr sz="28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  <a:tabLst>
                <a:tab pos="2846705" algn="l"/>
              </a:tabLst>
            </a:pPr>
            <a:r>
              <a:rPr dirty="0" sz="1050" spc="-75">
                <a:solidFill>
                  <a:srgbClr val="6A7B86"/>
                </a:solidFill>
                <a:latin typeface="Verdana"/>
                <a:cs typeface="Verdana"/>
              </a:rPr>
              <a:t>Comp</a:t>
            </a:r>
            <a:r>
              <a:rPr dirty="0" sz="105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80">
                <a:solidFill>
                  <a:srgbClr val="6A7B86"/>
                </a:solidFill>
                <a:latin typeface="Verdana"/>
                <a:cs typeface="Verdana"/>
              </a:rPr>
              <a:t>sales:</a:t>
            </a:r>
            <a:r>
              <a:rPr dirty="0" sz="1050" spc="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6A7B86"/>
                </a:solidFill>
                <a:latin typeface="Verdana"/>
                <a:cs typeface="Verdana"/>
              </a:rPr>
              <a:t>every</a:t>
            </a:r>
            <a:r>
              <a:rPr dirty="0" sz="105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70">
                <a:solidFill>
                  <a:srgbClr val="6A7B86"/>
                </a:solidFill>
                <a:latin typeface="Verdana"/>
                <a:cs typeface="Verdana"/>
              </a:rPr>
              <a:t>format</a:t>
            </a:r>
            <a:r>
              <a:rPr dirty="0" sz="105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35">
                <a:solidFill>
                  <a:srgbClr val="6A7B86"/>
                </a:solidFill>
                <a:latin typeface="Verdana"/>
                <a:cs typeface="Verdana"/>
              </a:rPr>
              <a:t>up</a:t>
            </a:r>
            <a:r>
              <a:rPr dirty="0" sz="1050">
                <a:solidFill>
                  <a:srgbClr val="6A7B86"/>
                </a:solidFill>
                <a:latin typeface="Verdana"/>
                <a:cs typeface="Verdana"/>
              </a:rPr>
              <a:t>	</a:t>
            </a:r>
            <a:r>
              <a:rPr dirty="0" sz="1050" spc="-55">
                <a:solidFill>
                  <a:srgbClr val="6A7B86"/>
                </a:solidFill>
                <a:latin typeface="Verdana"/>
                <a:cs typeface="Verdana"/>
              </a:rPr>
              <a:t>Display</a:t>
            </a:r>
            <a:r>
              <a:rPr dirty="0" sz="105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60">
                <a:solidFill>
                  <a:srgbClr val="6A7B86"/>
                </a:solidFill>
                <a:latin typeface="Verdana"/>
                <a:cs typeface="Verdana"/>
              </a:rPr>
              <a:t>lift,</a:t>
            </a:r>
            <a:r>
              <a:rPr dirty="0" sz="1050" spc="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6A7B86"/>
                </a:solidFill>
                <a:latin typeface="Verdana"/>
                <a:cs typeface="Verdana"/>
              </a:rPr>
              <a:t>causally</a:t>
            </a:r>
            <a:r>
              <a:rPr dirty="0" sz="105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45">
                <a:solidFill>
                  <a:srgbClr val="6A7B86"/>
                </a:solidFill>
                <a:latin typeface="Verdana"/>
                <a:cs typeface="Verdana"/>
              </a:rPr>
              <a:t>proven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022333" y="1696578"/>
            <a:ext cx="2712720" cy="783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105"/>
              </a:spcBef>
            </a:pPr>
            <a:r>
              <a:rPr dirty="0" sz="2850" spc="-10" b="1">
                <a:solidFill>
                  <a:srgbClr val="E66E50"/>
                </a:solidFill>
                <a:latin typeface="Verdana"/>
                <a:cs typeface="Verdana"/>
              </a:rPr>
              <a:t>$7.3M</a:t>
            </a:r>
            <a:endParaRPr sz="2850">
              <a:latin typeface="Verdana"/>
              <a:cs typeface="Verdana"/>
            </a:endParaRPr>
          </a:p>
          <a:p>
            <a:pPr marL="258445">
              <a:lnSpc>
                <a:spcPct val="100000"/>
              </a:lnSpc>
              <a:spcBef>
                <a:spcPts val="1275"/>
              </a:spcBef>
            </a:pPr>
            <a:r>
              <a:rPr dirty="0" sz="1050" spc="-65">
                <a:solidFill>
                  <a:srgbClr val="6A7B86"/>
                </a:solidFill>
                <a:latin typeface="Verdana"/>
                <a:cs typeface="Verdana"/>
              </a:rPr>
              <a:t>GMV</a:t>
            </a:r>
            <a:r>
              <a:rPr dirty="0" sz="1050" spc="-9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6A7B86"/>
                </a:solidFill>
                <a:latin typeface="Verdana"/>
                <a:cs typeface="Verdana"/>
              </a:rPr>
              <a:t>at</a:t>
            </a:r>
            <a:r>
              <a:rPr dirty="0" sz="1050" spc="-4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6A7B86"/>
                </a:solidFill>
                <a:latin typeface="Verdana"/>
                <a:cs typeface="Verdana"/>
              </a:rPr>
              <a:t>risk</a:t>
            </a:r>
            <a:r>
              <a:rPr dirty="0" sz="1050" spc="-80">
                <a:solidFill>
                  <a:srgbClr val="6A7B86"/>
                </a:solidFill>
                <a:latin typeface="Verdana"/>
                <a:cs typeface="Verdana"/>
              </a:rPr>
              <a:t> (stock-</a:t>
            </a:r>
            <a:r>
              <a:rPr dirty="0" sz="1050" spc="-20">
                <a:solidFill>
                  <a:srgbClr val="6A7B86"/>
                </a:solidFill>
                <a:latin typeface="Verdana"/>
                <a:cs typeface="Verdana"/>
              </a:rPr>
              <a:t>outs)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5940" y="3213255"/>
            <a:ext cx="8732520" cy="1405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25" b="1">
                <a:solidFill>
                  <a:srgbClr val="12283D"/>
                </a:solidFill>
                <a:latin typeface="Verdana"/>
                <a:cs typeface="Verdana"/>
              </a:rPr>
              <a:t>The</a:t>
            </a:r>
            <a:r>
              <a:rPr dirty="0" sz="1600" spc="-40" b="1">
                <a:solidFill>
                  <a:srgbClr val="12283D"/>
                </a:solidFill>
                <a:latin typeface="Verdana"/>
                <a:cs typeface="Verdana"/>
              </a:rPr>
              <a:t> </a:t>
            </a:r>
            <a:r>
              <a:rPr dirty="0" sz="1600" spc="-135" b="1">
                <a:solidFill>
                  <a:srgbClr val="12283D"/>
                </a:solidFill>
                <a:latin typeface="Verdana"/>
                <a:cs typeface="Verdana"/>
              </a:rPr>
              <a:t>bottom </a:t>
            </a:r>
            <a:r>
              <a:rPr dirty="0" sz="1600" spc="-20" b="1">
                <a:solidFill>
                  <a:srgbClr val="12283D"/>
                </a:solidFill>
                <a:latin typeface="Verdana"/>
                <a:cs typeface="Verdana"/>
              </a:rPr>
              <a:t>line</a:t>
            </a:r>
            <a:endParaRPr sz="16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400">
              <a:latin typeface="Verdana"/>
              <a:cs typeface="Verdana"/>
            </a:endParaRPr>
          </a:p>
          <a:p>
            <a:pPr marL="332105" indent="-319405">
              <a:lnSpc>
                <a:spcPct val="100000"/>
              </a:lnSpc>
              <a:spcBef>
                <a:spcPts val="5"/>
              </a:spcBef>
              <a:buClr>
                <a:srgbClr val="2A9C8E"/>
              </a:buClr>
              <a:buSzPct val="96428"/>
              <a:buChar char="&gt;"/>
              <a:tabLst>
                <a:tab pos="332105" algn="l"/>
              </a:tabLst>
            </a:pPr>
            <a:r>
              <a:rPr dirty="0" sz="1400" spc="-110">
                <a:solidFill>
                  <a:srgbClr val="12283D"/>
                </a:solidFill>
                <a:latin typeface="Arial Black"/>
                <a:cs typeface="Arial Black"/>
              </a:rPr>
              <a:t>The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2283D"/>
                </a:solidFill>
                <a:latin typeface="Arial Black"/>
                <a:cs typeface="Arial Black"/>
              </a:rPr>
              <a:t>network</a:t>
            </a:r>
            <a:r>
              <a:rPr dirty="0" sz="1400" spc="-13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is</a:t>
            </a: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healthy</a:t>
            </a: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2283D"/>
                </a:solidFill>
                <a:latin typeface="Arial Black"/>
                <a:cs typeface="Arial Black"/>
              </a:rPr>
              <a:t>and</a:t>
            </a:r>
            <a:r>
              <a:rPr dirty="0" sz="140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12283D"/>
                </a:solidFill>
                <a:latin typeface="Arial Black"/>
                <a:cs typeface="Arial Black"/>
              </a:rPr>
              <a:t>growing</a:t>
            </a:r>
            <a:r>
              <a:rPr dirty="0" sz="1400" spc="-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14">
                <a:solidFill>
                  <a:srgbClr val="12283D"/>
                </a:solidFill>
                <a:latin typeface="Arial Black"/>
                <a:cs typeface="Arial Black"/>
              </a:rPr>
              <a:t>across</a:t>
            </a: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all</a:t>
            </a:r>
            <a:r>
              <a:rPr dirty="0" sz="1400" spc="5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25">
                <a:solidFill>
                  <a:srgbClr val="12283D"/>
                </a:solidFill>
                <a:latin typeface="Arial Black"/>
                <a:cs typeface="Arial Black"/>
              </a:rPr>
              <a:t>four</a:t>
            </a:r>
            <a:r>
              <a:rPr dirty="0" sz="1400" spc="-7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12283D"/>
                </a:solidFill>
                <a:latin typeface="Arial Black"/>
                <a:cs typeface="Arial Black"/>
              </a:rPr>
              <a:t>formats</a:t>
            </a: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2283D"/>
                </a:solidFill>
                <a:latin typeface="Arial Black"/>
                <a:cs typeface="Arial Black"/>
              </a:rPr>
              <a:t>and</a:t>
            </a:r>
            <a:r>
              <a:rPr dirty="0" sz="1400" spc="-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all</a:t>
            </a:r>
            <a:r>
              <a:rPr dirty="0" sz="1400" spc="5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45">
                <a:solidFill>
                  <a:srgbClr val="12283D"/>
                </a:solidFill>
                <a:latin typeface="Arial Black"/>
                <a:cs typeface="Arial Black"/>
              </a:rPr>
              <a:t>five 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countries.</a:t>
            </a:r>
            <a:endParaRPr sz="1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305"/>
              </a:spcBef>
              <a:buClr>
                <a:srgbClr val="2A9C8E"/>
              </a:buClr>
              <a:buFont typeface="Arial Black"/>
              <a:buChar char="&gt;"/>
            </a:pPr>
            <a:endParaRPr sz="1250">
              <a:latin typeface="Arial Black"/>
              <a:cs typeface="Arial Black"/>
            </a:endParaRPr>
          </a:p>
          <a:p>
            <a:pPr marL="332105" indent="-319405">
              <a:lnSpc>
                <a:spcPct val="100000"/>
              </a:lnSpc>
              <a:spcBef>
                <a:spcPts val="5"/>
              </a:spcBef>
              <a:buClr>
                <a:srgbClr val="2A9C8E"/>
              </a:buClr>
              <a:buSzPct val="96428"/>
              <a:buChar char="&gt;"/>
              <a:tabLst>
                <a:tab pos="332105" algn="l"/>
              </a:tabLst>
            </a:pP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Our</a:t>
            </a:r>
            <a:r>
              <a:rPr dirty="0" sz="1400" spc="-7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most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12283D"/>
                </a:solidFill>
                <a:latin typeface="Arial Black"/>
                <a:cs typeface="Arial Black"/>
              </a:rPr>
              <a:t>certain</a:t>
            </a:r>
            <a:r>
              <a:rPr dirty="0" sz="1400" spc="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0">
                <a:solidFill>
                  <a:srgbClr val="12283D"/>
                </a:solidFill>
                <a:latin typeface="Arial Black"/>
                <a:cs typeface="Arial Black"/>
              </a:rPr>
              <a:t>win</a:t>
            </a:r>
            <a:r>
              <a:rPr dirty="0" sz="1400" spc="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is</a:t>
            </a:r>
            <a:r>
              <a:rPr dirty="0" sz="1400" spc="-2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12283D"/>
                </a:solidFill>
                <a:latin typeface="Arial Black"/>
                <a:cs typeface="Arial Black"/>
              </a:rPr>
              <a:t>operational:</a:t>
            </a:r>
            <a:r>
              <a:rPr dirty="0" sz="1400" spc="10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40">
                <a:solidFill>
                  <a:srgbClr val="12283D"/>
                </a:solidFill>
                <a:latin typeface="Arial Black"/>
                <a:cs typeface="Arial Black"/>
              </a:rPr>
              <a:t>a</a:t>
            </a:r>
            <a:r>
              <a:rPr dirty="0" sz="1400" spc="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new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25">
                <a:solidFill>
                  <a:srgbClr val="12283D"/>
                </a:solidFill>
                <a:latin typeface="Arial Black"/>
                <a:cs typeface="Arial Black"/>
              </a:rPr>
              <a:t>in-</a:t>
            </a:r>
            <a:r>
              <a:rPr dirty="0" sz="1400" spc="-70">
                <a:solidFill>
                  <a:srgbClr val="12283D"/>
                </a:solidFill>
                <a:latin typeface="Arial Black"/>
                <a:cs typeface="Arial Black"/>
              </a:rPr>
              <a:t>store</a:t>
            </a: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2283D"/>
                </a:solidFill>
                <a:latin typeface="Arial Black"/>
                <a:cs typeface="Arial Black"/>
              </a:rPr>
              <a:t>display</a:t>
            </a:r>
            <a:r>
              <a:rPr dirty="0" sz="1400" spc="-8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drove</a:t>
            </a:r>
            <a:r>
              <a:rPr dirty="0" sz="1400" spc="-3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40">
                <a:solidFill>
                  <a:srgbClr val="12283D"/>
                </a:solidFill>
                <a:latin typeface="Arial Black"/>
                <a:cs typeface="Arial Black"/>
              </a:rPr>
              <a:t>a</a:t>
            </a:r>
            <a:r>
              <a:rPr dirty="0" sz="1400" spc="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2283D"/>
                </a:solidFill>
                <a:latin typeface="Arial Black"/>
                <a:cs typeface="Arial Black"/>
              </a:rPr>
              <a:t>significant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35">
                <a:solidFill>
                  <a:srgbClr val="12283D"/>
                </a:solidFill>
                <a:latin typeface="Arial Black"/>
                <a:cs typeface="Arial Black"/>
              </a:rPr>
              <a:t>+10%</a:t>
            </a:r>
            <a:r>
              <a:rPr dirty="0" sz="1400" spc="-100">
                <a:solidFill>
                  <a:srgbClr val="12283D"/>
                </a:solidFill>
                <a:latin typeface="Arial Black"/>
                <a:cs typeface="Arial Black"/>
              </a:rPr>
              <a:t> GMV</a:t>
            </a:r>
            <a:r>
              <a:rPr dirty="0" sz="1400" spc="-114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lift.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5940" y="4976652"/>
            <a:ext cx="14668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10">
                <a:solidFill>
                  <a:srgbClr val="2A9C8E"/>
                </a:solidFill>
                <a:latin typeface="Arial Black"/>
                <a:cs typeface="Arial Black"/>
              </a:rPr>
              <a:t>&gt;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55980" y="4978926"/>
            <a:ext cx="925004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10">
                <a:solidFill>
                  <a:srgbClr val="12283D"/>
                </a:solidFill>
                <a:latin typeface="Arial Black"/>
                <a:cs typeface="Arial Black"/>
              </a:rPr>
              <a:t>The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12283D"/>
                </a:solidFill>
                <a:latin typeface="Arial Black"/>
                <a:cs typeface="Arial Black"/>
              </a:rPr>
              <a:t>biggest </a:t>
            </a:r>
            <a:r>
              <a:rPr dirty="0" sz="1400" spc="-80">
                <a:solidFill>
                  <a:srgbClr val="12283D"/>
                </a:solidFill>
                <a:latin typeface="Arial Black"/>
                <a:cs typeface="Arial Black"/>
              </a:rPr>
              <a:t>strategic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lever</a:t>
            </a:r>
            <a:r>
              <a:rPr dirty="0" sz="1400" spc="-7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is</a:t>
            </a:r>
            <a:r>
              <a:rPr dirty="0" sz="1400" spc="-3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capital</a:t>
            </a:r>
            <a:r>
              <a:rPr dirty="0" sz="1400" spc="5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12283D"/>
                </a:solidFill>
                <a:latin typeface="Arial Black"/>
                <a:cs typeface="Arial Black"/>
              </a:rPr>
              <a:t>allocation:</a:t>
            </a:r>
            <a:r>
              <a:rPr dirty="0" sz="1400" spc="9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50">
                <a:solidFill>
                  <a:srgbClr val="12283D"/>
                </a:solidFill>
                <a:latin typeface="Arial Black"/>
                <a:cs typeface="Arial Black"/>
              </a:rPr>
              <a:t>EXPRESS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12283D"/>
                </a:solidFill>
                <a:latin typeface="Arial Black"/>
                <a:cs typeface="Arial Black"/>
              </a:rPr>
              <a:t>earns</a:t>
            </a: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12283D"/>
                </a:solidFill>
                <a:latin typeface="Arial Black"/>
                <a:cs typeface="Arial Black"/>
              </a:rPr>
              <a:t>2.5x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the</a:t>
            </a:r>
            <a:r>
              <a:rPr dirty="0" sz="1400" spc="-4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0">
                <a:solidFill>
                  <a:srgbClr val="12283D"/>
                </a:solidFill>
                <a:latin typeface="Arial Black"/>
                <a:cs typeface="Arial Black"/>
              </a:rPr>
              <a:t>GMV</a:t>
            </a:r>
            <a:r>
              <a:rPr dirty="0" sz="1400" spc="-12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per</a:t>
            </a:r>
            <a:r>
              <a:rPr dirty="0" sz="1400" spc="-7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0">
                <a:solidFill>
                  <a:srgbClr val="12283D"/>
                </a:solidFill>
                <a:latin typeface="Arial Black"/>
                <a:cs typeface="Arial Black"/>
              </a:rPr>
              <a:t>m2</a:t>
            </a:r>
            <a:r>
              <a:rPr dirty="0" sz="1400" spc="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2283D"/>
                </a:solidFill>
                <a:latin typeface="Arial Black"/>
                <a:cs typeface="Arial Black"/>
              </a:rPr>
              <a:t>of</a:t>
            </a:r>
            <a:r>
              <a:rPr dirty="0" sz="1400" spc="-9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30">
                <a:solidFill>
                  <a:srgbClr val="12283D"/>
                </a:solidFill>
                <a:latin typeface="Arial Black"/>
                <a:cs typeface="Arial Black"/>
              </a:rPr>
              <a:t>hypermarkets.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5940" y="5582430"/>
            <a:ext cx="923036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25"/>
              </a:spcBef>
              <a:buClr>
                <a:srgbClr val="2A9C8E"/>
              </a:buClr>
              <a:buSzPct val="96428"/>
              <a:buChar char="&gt;"/>
              <a:tabLst>
                <a:tab pos="332105" algn="l"/>
              </a:tabLst>
            </a:pPr>
            <a:r>
              <a:rPr dirty="0" sz="1400" spc="-110">
                <a:solidFill>
                  <a:srgbClr val="12283D"/>
                </a:solidFill>
                <a:latin typeface="Arial Black"/>
                <a:cs typeface="Arial Black"/>
              </a:rPr>
              <a:t>The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12283D"/>
                </a:solidFill>
                <a:latin typeface="Arial Black"/>
                <a:cs typeface="Arial Black"/>
              </a:rPr>
              <a:t>main</a:t>
            </a: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watch-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item</a:t>
            </a:r>
            <a:r>
              <a:rPr dirty="0" sz="1400" spc="-5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is</a:t>
            </a: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25">
                <a:solidFill>
                  <a:srgbClr val="12283D"/>
                </a:solidFill>
                <a:latin typeface="Arial Black"/>
                <a:cs typeface="Arial Black"/>
              </a:rPr>
              <a:t>~$7.3M</a:t>
            </a: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2283D"/>
                </a:solidFill>
                <a:latin typeface="Arial Black"/>
                <a:cs typeface="Arial Black"/>
              </a:rPr>
              <a:t>(15%</a:t>
            </a:r>
            <a:r>
              <a:rPr dirty="0" sz="1400" spc="-1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2283D"/>
                </a:solidFill>
                <a:latin typeface="Arial Black"/>
                <a:cs typeface="Arial Black"/>
              </a:rPr>
              <a:t>of</a:t>
            </a:r>
            <a:r>
              <a:rPr dirty="0" sz="1400" spc="-10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GMV)</a:t>
            </a:r>
            <a:r>
              <a:rPr dirty="0" sz="1400" spc="2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tied</a:t>
            </a:r>
            <a:r>
              <a:rPr dirty="0" sz="1400" spc="-2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30">
                <a:solidFill>
                  <a:srgbClr val="12283D"/>
                </a:solidFill>
                <a:latin typeface="Arial Black"/>
                <a:cs typeface="Arial Black"/>
              </a:rPr>
              <a:t>to</a:t>
            </a:r>
            <a:r>
              <a:rPr dirty="0" sz="1400" spc="-7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potential</a:t>
            </a:r>
            <a:r>
              <a:rPr dirty="0" sz="1400" spc="3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stock-</a:t>
            </a:r>
            <a:r>
              <a:rPr dirty="0" sz="1400" spc="-70">
                <a:solidFill>
                  <a:srgbClr val="12283D"/>
                </a:solidFill>
                <a:latin typeface="Arial Black"/>
                <a:cs typeface="Arial Black"/>
              </a:rPr>
              <a:t>outs</a:t>
            </a:r>
            <a:r>
              <a:rPr dirty="0" sz="1400" spc="-4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2283D"/>
                </a:solidFill>
                <a:latin typeface="Arial Black"/>
                <a:cs typeface="Arial Black"/>
              </a:rPr>
              <a:t>in </a:t>
            </a:r>
            <a:r>
              <a:rPr dirty="0" sz="1400" spc="-95">
                <a:solidFill>
                  <a:srgbClr val="12283D"/>
                </a:solidFill>
                <a:latin typeface="Arial Black"/>
                <a:cs typeface="Arial Black"/>
              </a:rPr>
              <a:t>Electronics</a:t>
            </a: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2283D"/>
                </a:solidFill>
                <a:latin typeface="Arial Black"/>
                <a:cs typeface="Arial Black"/>
              </a:rPr>
              <a:t>and</a:t>
            </a:r>
            <a:r>
              <a:rPr dirty="0" sz="1400" spc="-2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Home.</a:t>
            </a:r>
            <a:endParaRPr sz="1400">
              <a:latin typeface="Arial Black"/>
              <a:cs typeface="Arial Black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35940" y="6442354"/>
            <a:ext cx="5761355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10" i="1">
                <a:solidFill>
                  <a:srgbClr val="6A7B86"/>
                </a:solidFill>
                <a:latin typeface="Verdana"/>
                <a:cs typeface="Verdana"/>
              </a:rPr>
              <a:t>GMV</a:t>
            </a:r>
            <a:r>
              <a:rPr dirty="0" sz="850" spc="-13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i="1">
                <a:solidFill>
                  <a:srgbClr val="6A7B86"/>
                </a:solidFill>
                <a:latin typeface="Verdana"/>
                <a:cs typeface="Verdana"/>
              </a:rPr>
              <a:t>=</a:t>
            </a:r>
            <a:r>
              <a:rPr dirty="0" sz="850" spc="2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45" i="1">
                <a:solidFill>
                  <a:srgbClr val="6A7B86"/>
                </a:solidFill>
                <a:latin typeface="Verdana"/>
                <a:cs typeface="Verdana"/>
              </a:rPr>
              <a:t>sum(unit_price</a:t>
            </a: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i="1">
                <a:solidFill>
                  <a:srgbClr val="6A7B86"/>
                </a:solidFill>
                <a:latin typeface="Verdana"/>
                <a:cs typeface="Verdana"/>
              </a:rPr>
              <a:t>x</a:t>
            </a:r>
            <a:r>
              <a:rPr dirty="0" sz="850" spc="-8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40" i="1">
                <a:solidFill>
                  <a:srgbClr val="6A7B86"/>
                </a:solidFill>
                <a:latin typeface="Verdana"/>
                <a:cs typeface="Verdana"/>
              </a:rPr>
              <a:t>quantity)</a:t>
            </a:r>
            <a:r>
              <a:rPr dirty="0" sz="850" spc="4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50" i="1">
                <a:solidFill>
                  <a:srgbClr val="6A7B86"/>
                </a:solidFill>
                <a:latin typeface="Verdana"/>
                <a:cs typeface="Verdana"/>
              </a:rPr>
              <a:t>on</a:t>
            </a:r>
            <a:r>
              <a:rPr dirty="0" sz="850" spc="-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40" i="1">
                <a:solidFill>
                  <a:srgbClr val="6A7B86"/>
                </a:solidFill>
                <a:latin typeface="Verdana"/>
                <a:cs typeface="Verdana"/>
              </a:rPr>
              <a:t>COMPLETED 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transactions.</a:t>
            </a:r>
            <a:r>
              <a:rPr dirty="0" sz="850" spc="9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All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figures</a:t>
            </a:r>
            <a:r>
              <a:rPr dirty="0" sz="850" spc="-4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validated</a:t>
            </a:r>
            <a:r>
              <a:rPr dirty="0" sz="850" spc="-8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55" i="1">
                <a:solidFill>
                  <a:srgbClr val="6A7B86"/>
                </a:solidFill>
                <a:latin typeface="Verdana"/>
                <a:cs typeface="Verdana"/>
              </a:rPr>
              <a:t>end-</a:t>
            </a:r>
            <a:r>
              <a:rPr dirty="0" sz="850" spc="-60" i="1">
                <a:solidFill>
                  <a:srgbClr val="6A7B86"/>
                </a:solidFill>
                <a:latin typeface="Verdana"/>
                <a:cs typeface="Verdana"/>
              </a:rPr>
              <a:t>to-</a:t>
            </a:r>
            <a:r>
              <a:rPr dirty="0" sz="850" spc="-20" i="1">
                <a:solidFill>
                  <a:srgbClr val="6A7B86"/>
                </a:solidFill>
                <a:latin typeface="Verdana"/>
                <a:cs typeface="Verdana"/>
              </a:rPr>
              <a:t>end</a:t>
            </a:r>
            <a:r>
              <a:rPr dirty="0" sz="850" spc="-7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50" i="1">
                <a:solidFill>
                  <a:srgbClr val="6A7B86"/>
                </a:solidFill>
                <a:latin typeface="Verdana"/>
                <a:cs typeface="Verdana"/>
              </a:rPr>
              <a:t>on</a:t>
            </a:r>
            <a:r>
              <a:rPr dirty="0" sz="850" spc="-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20" i="1">
                <a:solidFill>
                  <a:srgbClr val="6A7B86"/>
                </a:solidFill>
                <a:latin typeface="Verdana"/>
                <a:cs typeface="Verdana"/>
              </a:rPr>
              <a:t>raw</a:t>
            </a:r>
            <a:r>
              <a:rPr dirty="0" sz="850" spc="-8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10" i="1">
                <a:solidFill>
                  <a:srgbClr val="6A7B86"/>
                </a:solidFill>
                <a:latin typeface="Verdana"/>
                <a:cs typeface="Verdana"/>
              </a:rPr>
              <a:t>data.</a:t>
            </a:r>
            <a:endParaRPr sz="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706881"/>
            <a:ext cx="12202160" cy="49530"/>
            <a:chOff x="-6350" y="706881"/>
            <a:chExt cx="12202160" cy="49530"/>
          </a:xfrm>
        </p:grpSpPr>
        <p:sp>
          <p:nvSpPr>
            <p:cNvPr id="3" name="object 3"/>
            <p:cNvSpPr/>
            <p:nvPr/>
          </p:nvSpPr>
          <p:spPr>
            <a:xfrm>
              <a:off x="0" y="713231"/>
              <a:ext cx="12189460" cy="36830"/>
            </a:xfrm>
            <a:custGeom>
              <a:avLst/>
              <a:gdLst/>
              <a:ahLst/>
              <a:cxnLst/>
              <a:rect l="l" t="t" r="r" b="b"/>
              <a:pathLst>
                <a:path w="12189460" h="36829">
                  <a:moveTo>
                    <a:pt x="12188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12188952" y="3657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713231"/>
              <a:ext cx="12189460" cy="36830"/>
            </a:xfrm>
            <a:custGeom>
              <a:avLst/>
              <a:gdLst/>
              <a:ahLst/>
              <a:cxnLst/>
              <a:rect l="l" t="t" r="r" b="b"/>
              <a:pathLst>
                <a:path w="12189460" h="36829">
                  <a:moveTo>
                    <a:pt x="0" y="36575"/>
                  </a:moveTo>
                  <a:lnTo>
                    <a:pt x="12188952" y="36575"/>
                  </a:lnTo>
                  <a:lnTo>
                    <a:pt x="12188952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699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/>
          <p:nvPr/>
        </p:nvSpPr>
        <p:spPr>
          <a:xfrm>
            <a:off x="535940" y="78473"/>
            <a:ext cx="2416810" cy="5422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0"/>
              </a:spcBef>
            </a:pPr>
            <a:r>
              <a:rPr dirty="0" sz="1150" spc="-145">
                <a:solidFill>
                  <a:srgbClr val="E9C469"/>
                </a:solidFill>
                <a:latin typeface="Arial Black"/>
                <a:cs typeface="Arial Black"/>
              </a:rPr>
              <a:t>STORE</a:t>
            </a:r>
            <a:r>
              <a:rPr dirty="0" sz="1150" spc="10">
                <a:solidFill>
                  <a:srgbClr val="E9C469"/>
                </a:solidFill>
                <a:latin typeface="Arial Black"/>
                <a:cs typeface="Arial Black"/>
              </a:rPr>
              <a:t> </a:t>
            </a:r>
            <a:r>
              <a:rPr dirty="0" sz="1150" spc="-45">
                <a:solidFill>
                  <a:srgbClr val="E9C469"/>
                </a:solidFill>
                <a:latin typeface="Arial Black"/>
                <a:cs typeface="Arial Black"/>
              </a:rPr>
              <a:t>PERFORMANCE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ts val="2790"/>
              </a:lnSpc>
            </a:pPr>
            <a:r>
              <a:rPr dirty="0" sz="2400" spc="-225" b="1">
                <a:solidFill>
                  <a:srgbClr val="F7F4ED"/>
                </a:solidFill>
                <a:latin typeface="Verdana"/>
                <a:cs typeface="Verdana"/>
              </a:rPr>
              <a:t>Growth</a:t>
            </a:r>
            <a:r>
              <a:rPr dirty="0" sz="2400" spc="-175" b="1">
                <a:solidFill>
                  <a:srgbClr val="F7F4ED"/>
                </a:solidFill>
                <a:latin typeface="Verdana"/>
                <a:cs typeface="Verdana"/>
              </a:rPr>
              <a:t> </a:t>
            </a:r>
            <a:r>
              <a:rPr dirty="0" sz="2400" spc="-140" b="1">
                <a:solidFill>
                  <a:srgbClr val="F7F4ED"/>
                </a:solidFill>
                <a:latin typeface="Verdana"/>
                <a:cs typeface="Verdana"/>
              </a:rPr>
              <a:t>is</a:t>
            </a:r>
            <a:r>
              <a:rPr dirty="0" sz="2400" spc="-85" b="1">
                <a:solidFill>
                  <a:srgbClr val="F7F4ED"/>
                </a:solidFill>
                <a:latin typeface="Verdana"/>
                <a:cs typeface="Verdana"/>
              </a:rPr>
              <a:t> </a:t>
            </a:r>
            <a:r>
              <a:rPr dirty="0" sz="2400" spc="-180" b="1">
                <a:solidFill>
                  <a:srgbClr val="F7F4ED"/>
                </a:solidFill>
                <a:latin typeface="Verdana"/>
                <a:cs typeface="Verdana"/>
              </a:rPr>
              <a:t>broad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568142" y="229857"/>
            <a:ext cx="2776855" cy="3911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70"/>
              <a:t>productivity</a:t>
            </a:r>
            <a:r>
              <a:rPr dirty="0" spc="-220"/>
              <a:t> </a:t>
            </a:r>
            <a:r>
              <a:rPr dirty="0" spc="-140"/>
              <a:t>is</a:t>
            </a:r>
            <a:r>
              <a:rPr dirty="0" spc="-40"/>
              <a:t> </a:t>
            </a:r>
            <a:r>
              <a:rPr dirty="0" spc="-114"/>
              <a:t>not</a:t>
            </a:r>
          </a:p>
        </p:txBody>
      </p:sp>
      <p:sp>
        <p:nvSpPr>
          <p:cNvPr id="7" name="object 7"/>
          <p:cNvSpPr/>
          <p:nvPr/>
        </p:nvSpPr>
        <p:spPr>
          <a:xfrm>
            <a:off x="3142921" y="460713"/>
            <a:ext cx="238125" cy="31750"/>
          </a:xfrm>
          <a:custGeom>
            <a:avLst/>
            <a:gdLst/>
            <a:ahLst/>
            <a:cxnLst/>
            <a:rect l="l" t="t" r="r" b="b"/>
            <a:pathLst>
              <a:path w="238125" h="31750">
                <a:moveTo>
                  <a:pt x="237896" y="0"/>
                </a:moveTo>
                <a:lnTo>
                  <a:pt x="0" y="0"/>
                </a:lnTo>
                <a:lnTo>
                  <a:pt x="0" y="31203"/>
                </a:lnTo>
                <a:lnTo>
                  <a:pt x="237896" y="31203"/>
                </a:lnTo>
                <a:lnTo>
                  <a:pt x="237896" y="0"/>
                </a:lnTo>
                <a:close/>
              </a:path>
            </a:pathLst>
          </a:custGeom>
          <a:solidFill>
            <a:srgbClr val="F7F4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1375349" y="277855"/>
            <a:ext cx="24511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35">
                <a:solidFill>
                  <a:srgbClr val="7C92A3"/>
                </a:solidFill>
                <a:latin typeface="Verdana"/>
                <a:cs typeface="Verdana"/>
              </a:rPr>
              <a:t>2/5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1033198"/>
            <a:ext cx="257111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100" b="1">
                <a:solidFill>
                  <a:srgbClr val="12283D"/>
                </a:solidFill>
                <a:latin typeface="Verdana"/>
                <a:cs typeface="Verdana"/>
              </a:rPr>
              <a:t>Comparable</a:t>
            </a:r>
            <a:r>
              <a:rPr dirty="0" sz="1450" spc="-40" b="1">
                <a:solidFill>
                  <a:srgbClr val="12283D"/>
                </a:solidFill>
                <a:latin typeface="Verdana"/>
                <a:cs typeface="Verdana"/>
              </a:rPr>
              <a:t> </a:t>
            </a:r>
            <a:r>
              <a:rPr dirty="0" sz="1450" spc="-114" b="1">
                <a:solidFill>
                  <a:srgbClr val="12283D"/>
                </a:solidFill>
                <a:latin typeface="Verdana"/>
                <a:cs typeface="Verdana"/>
              </a:rPr>
              <a:t>sales</a:t>
            </a:r>
            <a:r>
              <a:rPr dirty="0" sz="1450" spc="-30" b="1">
                <a:solidFill>
                  <a:srgbClr val="12283D"/>
                </a:solidFill>
                <a:latin typeface="Verdana"/>
                <a:cs typeface="Verdana"/>
              </a:rPr>
              <a:t> </a:t>
            </a:r>
            <a:r>
              <a:rPr dirty="0" sz="1450" spc="-220" b="1">
                <a:solidFill>
                  <a:srgbClr val="12283D"/>
                </a:solidFill>
                <a:latin typeface="Verdana"/>
                <a:cs typeface="Verdana"/>
              </a:rPr>
              <a:t>(YoY,</a:t>
            </a:r>
            <a:r>
              <a:rPr dirty="0" sz="1450" spc="80" b="1">
                <a:solidFill>
                  <a:srgbClr val="12283D"/>
                </a:solidFill>
                <a:latin typeface="Verdana"/>
                <a:cs typeface="Verdana"/>
              </a:rPr>
              <a:t> </a:t>
            </a:r>
            <a:r>
              <a:rPr dirty="0" sz="1450" spc="-35" b="1">
                <a:solidFill>
                  <a:srgbClr val="12283D"/>
                </a:solidFill>
                <a:latin typeface="Verdana"/>
                <a:cs typeface="Verdana"/>
              </a:rPr>
              <a:t>H1)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5940" y="1648236"/>
            <a:ext cx="14668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10">
                <a:solidFill>
                  <a:srgbClr val="2A9C8E"/>
                </a:solidFill>
                <a:latin typeface="Arial Black"/>
                <a:cs typeface="Arial Black"/>
              </a:rPr>
              <a:t>&gt;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5940" y="2434620"/>
            <a:ext cx="588645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20"/>
              </a:spcBef>
              <a:buClr>
                <a:srgbClr val="2A9C8E"/>
              </a:buClr>
              <a:buChar char="&gt;"/>
              <a:tabLst>
                <a:tab pos="332105" algn="l"/>
              </a:tabLst>
            </a:pPr>
            <a:r>
              <a:rPr dirty="0" sz="1350" spc="-80">
                <a:solidFill>
                  <a:srgbClr val="12283D"/>
                </a:solidFill>
                <a:latin typeface="Arial Black"/>
                <a:cs typeface="Arial Black"/>
              </a:rPr>
              <a:t>By</a:t>
            </a:r>
            <a:r>
              <a:rPr dirty="0" sz="1350" spc="-9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60">
                <a:solidFill>
                  <a:srgbClr val="12283D"/>
                </a:solidFill>
                <a:latin typeface="Arial Black"/>
                <a:cs typeface="Arial Black"/>
              </a:rPr>
              <a:t>country:</a:t>
            </a:r>
            <a:r>
              <a:rPr dirty="0" sz="1350" spc="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85">
                <a:solidFill>
                  <a:srgbClr val="12283D"/>
                </a:solidFill>
                <a:latin typeface="Arial Black"/>
                <a:cs typeface="Arial Black"/>
              </a:rPr>
              <a:t>Honduras</a:t>
            </a:r>
            <a:r>
              <a:rPr dirty="0" sz="135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85">
                <a:solidFill>
                  <a:srgbClr val="12283D"/>
                </a:solidFill>
                <a:latin typeface="Arial Black"/>
                <a:cs typeface="Arial Black"/>
              </a:rPr>
              <a:t>leads</a:t>
            </a:r>
            <a:r>
              <a:rPr dirty="0" sz="135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55">
                <a:solidFill>
                  <a:srgbClr val="12283D"/>
                </a:solidFill>
                <a:latin typeface="Arial Black"/>
                <a:cs typeface="Arial Black"/>
              </a:rPr>
              <a:t>at</a:t>
            </a:r>
            <a:r>
              <a:rPr dirty="0" sz="1350" spc="-6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20">
                <a:solidFill>
                  <a:srgbClr val="12283D"/>
                </a:solidFill>
                <a:latin typeface="Arial Black"/>
                <a:cs typeface="Arial Black"/>
              </a:rPr>
              <a:t>+8.0%;</a:t>
            </a:r>
            <a:r>
              <a:rPr dirty="0" sz="1350" spc="6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95">
                <a:solidFill>
                  <a:srgbClr val="12283D"/>
                </a:solidFill>
                <a:latin typeface="Arial Black"/>
                <a:cs typeface="Arial Black"/>
              </a:rPr>
              <a:t>Guatemala</a:t>
            </a:r>
            <a:r>
              <a:rPr dirty="0" sz="1350" spc="-1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80">
                <a:solidFill>
                  <a:srgbClr val="12283D"/>
                </a:solidFill>
                <a:latin typeface="Arial Black"/>
                <a:cs typeface="Arial Black"/>
              </a:rPr>
              <a:t>lags</a:t>
            </a:r>
            <a:r>
              <a:rPr dirty="0" sz="135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55">
                <a:solidFill>
                  <a:srgbClr val="12283D"/>
                </a:solidFill>
                <a:latin typeface="Arial Black"/>
                <a:cs typeface="Arial Black"/>
              </a:rPr>
              <a:t>at</a:t>
            </a:r>
            <a:r>
              <a:rPr dirty="0" sz="1350" spc="-6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10">
                <a:solidFill>
                  <a:srgbClr val="12283D"/>
                </a:solidFill>
                <a:latin typeface="Arial Black"/>
                <a:cs typeface="Arial Black"/>
              </a:rPr>
              <a:t>+4.9%.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01378" y="3291903"/>
            <a:ext cx="1016000" cy="1517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80"/>
              </a:lnSpc>
            </a:pPr>
            <a:r>
              <a:rPr dirty="0" sz="1350" spc="-65">
                <a:solidFill>
                  <a:srgbClr val="12283D"/>
                </a:solidFill>
                <a:latin typeface="Arial Black"/>
                <a:cs typeface="Arial Black"/>
              </a:rPr>
              <a:t>vention</a:t>
            </a:r>
            <a:r>
              <a:rPr dirty="0" sz="1350" spc="-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65">
                <a:solidFill>
                  <a:srgbClr val="12283D"/>
                </a:solidFill>
                <a:latin typeface="Arial Black"/>
                <a:cs typeface="Arial Black"/>
              </a:rPr>
              <a:t>list.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940" y="4050718"/>
            <a:ext cx="235839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-90" b="1">
                <a:solidFill>
                  <a:srgbClr val="12283D"/>
                </a:solidFill>
                <a:latin typeface="Verdana"/>
                <a:cs typeface="Verdana"/>
              </a:rPr>
              <a:t>The</a:t>
            </a:r>
            <a:r>
              <a:rPr dirty="0" sz="1450" spc="-15" b="1">
                <a:solidFill>
                  <a:srgbClr val="12283D"/>
                </a:solidFill>
                <a:latin typeface="Verdana"/>
                <a:cs typeface="Verdana"/>
              </a:rPr>
              <a:t> </a:t>
            </a:r>
            <a:r>
              <a:rPr dirty="0" sz="1450" spc="-85" b="1">
                <a:solidFill>
                  <a:srgbClr val="12283D"/>
                </a:solidFill>
                <a:latin typeface="Verdana"/>
                <a:cs typeface="Verdana"/>
              </a:rPr>
              <a:t>productivity</a:t>
            </a:r>
            <a:r>
              <a:rPr dirty="0" sz="1450" spc="-120" b="1">
                <a:solidFill>
                  <a:srgbClr val="12283D"/>
                </a:solidFill>
                <a:latin typeface="Verdana"/>
                <a:cs typeface="Verdana"/>
              </a:rPr>
              <a:t> </a:t>
            </a:r>
            <a:r>
              <a:rPr dirty="0" sz="1450" spc="-100" b="1">
                <a:solidFill>
                  <a:srgbClr val="12283D"/>
                </a:solidFill>
                <a:latin typeface="Verdana"/>
                <a:cs typeface="Verdana"/>
              </a:rPr>
              <a:t>paradox</a:t>
            </a:r>
            <a:endParaRPr sz="14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5940" y="4558913"/>
            <a:ext cx="4698365" cy="36449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 marR="5080">
              <a:lnSpc>
                <a:spcPts val="1230"/>
              </a:lnSpc>
              <a:spcBef>
                <a:spcPts val="315"/>
              </a:spcBef>
            </a:pPr>
            <a:r>
              <a:rPr dirty="0" sz="1200" spc="-105">
                <a:solidFill>
                  <a:srgbClr val="6A7B86"/>
                </a:solidFill>
                <a:latin typeface="Verdana"/>
                <a:cs typeface="Verdana"/>
              </a:rPr>
              <a:t>Hypermarkets</a:t>
            </a:r>
            <a:r>
              <a:rPr dirty="0" sz="120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0">
                <a:solidFill>
                  <a:srgbClr val="6A7B86"/>
                </a:solidFill>
                <a:latin typeface="Verdana"/>
                <a:cs typeface="Verdana"/>
              </a:rPr>
              <a:t>win</a:t>
            </a:r>
            <a:r>
              <a:rPr dirty="0" sz="120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20">
                <a:solidFill>
                  <a:srgbClr val="6A7B86"/>
                </a:solidFill>
                <a:latin typeface="Verdana"/>
                <a:cs typeface="Verdana"/>
              </a:rPr>
              <a:t>on</a:t>
            </a:r>
            <a:r>
              <a:rPr dirty="0" sz="1200" spc="-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absolute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GMV</a:t>
            </a:r>
            <a:r>
              <a:rPr dirty="0" sz="1200" spc="-12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but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are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120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least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 efficient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per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m2. </a:t>
            </a:r>
            <a:r>
              <a:rPr dirty="0" sz="1200" spc="-114">
                <a:solidFill>
                  <a:srgbClr val="6A7B86"/>
                </a:solidFill>
                <a:latin typeface="Verdana"/>
                <a:cs typeface="Verdana"/>
              </a:rPr>
              <a:t>Small</a:t>
            </a:r>
            <a:r>
              <a:rPr dirty="0" sz="1200" spc="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25">
                <a:solidFill>
                  <a:srgbClr val="6A7B86"/>
                </a:solidFill>
                <a:latin typeface="Verdana"/>
                <a:cs typeface="Verdana"/>
              </a:rPr>
              <a:t>EXPRESS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stores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are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5">
                <a:solidFill>
                  <a:srgbClr val="6A7B86"/>
                </a:solidFill>
                <a:latin typeface="Verdana"/>
                <a:cs typeface="Verdana"/>
              </a:rPr>
              <a:t>most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productive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use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6A7B86"/>
                </a:solidFill>
                <a:latin typeface="Verdana"/>
                <a:cs typeface="Verdana"/>
              </a:rPr>
              <a:t>of</a:t>
            </a:r>
            <a:r>
              <a:rPr dirty="0" sz="1200" spc="-12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selling</a:t>
            </a:r>
            <a:r>
              <a:rPr dirty="0" sz="1200" spc="-2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">
                <a:solidFill>
                  <a:srgbClr val="6A7B86"/>
                </a:solidFill>
                <a:latin typeface="Verdana"/>
                <a:cs typeface="Verdana"/>
              </a:rPr>
              <a:t>space.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35940" y="6442354"/>
            <a:ext cx="503047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Comparable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i="1">
                <a:solidFill>
                  <a:srgbClr val="6A7B86"/>
                </a:solidFill>
                <a:latin typeface="Verdana"/>
                <a:cs typeface="Verdana"/>
              </a:rPr>
              <a:t>=</a:t>
            </a:r>
            <a:r>
              <a:rPr dirty="0" sz="850" spc="2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stores</a:t>
            </a:r>
            <a:r>
              <a:rPr dirty="0" sz="850" spc="-4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opened</a:t>
            </a:r>
            <a:r>
              <a:rPr dirty="0" sz="850" spc="-7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before</a:t>
            </a: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50" i="1">
                <a:solidFill>
                  <a:srgbClr val="6A7B86"/>
                </a:solidFill>
                <a:latin typeface="Verdana"/>
                <a:cs typeface="Verdana"/>
              </a:rPr>
              <a:t>2024</a:t>
            </a:r>
            <a:r>
              <a:rPr dirty="0" sz="850" spc="-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60" i="1">
                <a:solidFill>
                  <a:srgbClr val="6A7B86"/>
                </a:solidFill>
                <a:latin typeface="Verdana"/>
                <a:cs typeface="Verdana"/>
              </a:rPr>
              <a:t>(39</a:t>
            </a:r>
            <a:r>
              <a:rPr dirty="0" sz="850" spc="-1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i="1">
                <a:solidFill>
                  <a:srgbClr val="6A7B86"/>
                </a:solidFill>
                <a:latin typeface="Verdana"/>
                <a:cs typeface="Verdana"/>
              </a:rPr>
              <a:t>of</a:t>
            </a:r>
            <a:r>
              <a:rPr dirty="0" sz="850" spc="-16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65" i="1">
                <a:solidFill>
                  <a:srgbClr val="6A7B86"/>
                </a:solidFill>
                <a:latin typeface="Verdana"/>
                <a:cs typeface="Verdana"/>
              </a:rPr>
              <a:t>40).</a:t>
            </a:r>
            <a:r>
              <a:rPr dirty="0" sz="850" spc="9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Productivity</a:t>
            </a:r>
            <a:r>
              <a:rPr dirty="0" sz="850" spc="-8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normalizes</a:t>
            </a:r>
            <a:r>
              <a:rPr dirty="0" sz="850" spc="-4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10" i="1">
                <a:solidFill>
                  <a:srgbClr val="6A7B86"/>
                </a:solidFill>
                <a:latin typeface="Verdana"/>
                <a:cs typeface="Verdana"/>
              </a:rPr>
              <a:t>GMV</a:t>
            </a:r>
            <a:r>
              <a:rPr dirty="0" sz="850" spc="-12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10" i="1">
                <a:solidFill>
                  <a:srgbClr val="6A7B86"/>
                </a:solidFill>
                <a:latin typeface="Verdana"/>
                <a:cs typeface="Verdana"/>
              </a:rPr>
              <a:t>by</a:t>
            </a:r>
            <a:r>
              <a:rPr dirty="0" sz="850" spc="-8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selling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10" i="1">
                <a:solidFill>
                  <a:srgbClr val="6A7B86"/>
                </a:solidFill>
                <a:latin typeface="Verdana"/>
                <a:cs typeface="Verdana"/>
              </a:rPr>
              <a:t>area.</a:t>
            </a:r>
            <a:endParaRPr sz="85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947702" y="1920239"/>
            <a:ext cx="4754245" cy="4164329"/>
            <a:chOff x="6947702" y="1920239"/>
            <a:chExt cx="4754245" cy="4164329"/>
          </a:xfrm>
        </p:grpSpPr>
        <p:sp>
          <p:nvSpPr>
            <p:cNvPr id="17" name="object 17"/>
            <p:cNvSpPr/>
            <p:nvPr/>
          </p:nvSpPr>
          <p:spPr>
            <a:xfrm>
              <a:off x="6947702" y="1920239"/>
              <a:ext cx="4754245" cy="4114800"/>
            </a:xfrm>
            <a:custGeom>
              <a:avLst/>
              <a:gdLst/>
              <a:ahLst/>
              <a:cxnLst/>
              <a:rect l="l" t="t" r="r" b="b"/>
              <a:pathLst>
                <a:path w="4754245" h="4114800">
                  <a:moveTo>
                    <a:pt x="4753691" y="0"/>
                  </a:moveTo>
                  <a:lnTo>
                    <a:pt x="0" y="0"/>
                  </a:lnTo>
                  <a:lnTo>
                    <a:pt x="0" y="4114800"/>
                  </a:lnTo>
                  <a:lnTo>
                    <a:pt x="4753691" y="4114800"/>
                  </a:lnTo>
                  <a:lnTo>
                    <a:pt x="4753691" y="0"/>
                  </a:lnTo>
                  <a:close/>
                </a:path>
              </a:pathLst>
            </a:custGeom>
            <a:solidFill>
              <a:srgbClr val="F7F4E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7163779" y="2410586"/>
              <a:ext cx="909955" cy="3624579"/>
            </a:xfrm>
            <a:custGeom>
              <a:avLst/>
              <a:gdLst/>
              <a:ahLst/>
              <a:cxnLst/>
              <a:rect l="l" t="t" r="r" b="b"/>
              <a:pathLst>
                <a:path w="909954" h="3624579">
                  <a:moveTo>
                    <a:pt x="909797" y="0"/>
                  </a:moveTo>
                  <a:lnTo>
                    <a:pt x="0" y="0"/>
                  </a:lnTo>
                  <a:lnTo>
                    <a:pt x="0" y="3624453"/>
                  </a:lnTo>
                  <a:lnTo>
                    <a:pt x="909797" y="3624453"/>
                  </a:lnTo>
                  <a:lnTo>
                    <a:pt x="909797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8301025" y="4018788"/>
              <a:ext cx="909955" cy="2016760"/>
            </a:xfrm>
            <a:custGeom>
              <a:avLst/>
              <a:gdLst/>
              <a:ahLst/>
              <a:cxnLst/>
              <a:rect l="l" t="t" r="r" b="b"/>
              <a:pathLst>
                <a:path w="909954" h="2016760">
                  <a:moveTo>
                    <a:pt x="909797" y="0"/>
                  </a:moveTo>
                  <a:lnTo>
                    <a:pt x="0" y="0"/>
                  </a:lnTo>
                  <a:lnTo>
                    <a:pt x="0" y="2016252"/>
                  </a:lnTo>
                  <a:lnTo>
                    <a:pt x="909797" y="2016252"/>
                  </a:lnTo>
                  <a:lnTo>
                    <a:pt x="909797" y="0"/>
                  </a:lnTo>
                  <a:close/>
                </a:path>
              </a:pathLst>
            </a:custGeom>
            <a:solidFill>
              <a:srgbClr val="5BB5A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9438272" y="4262247"/>
              <a:ext cx="909955" cy="1772920"/>
            </a:xfrm>
            <a:custGeom>
              <a:avLst/>
              <a:gdLst/>
              <a:ahLst/>
              <a:cxnLst/>
              <a:rect l="l" t="t" r="r" b="b"/>
              <a:pathLst>
                <a:path w="909954" h="1772920">
                  <a:moveTo>
                    <a:pt x="909797" y="0"/>
                  </a:moveTo>
                  <a:lnTo>
                    <a:pt x="0" y="0"/>
                  </a:lnTo>
                  <a:lnTo>
                    <a:pt x="0" y="1772792"/>
                  </a:lnTo>
                  <a:lnTo>
                    <a:pt x="909797" y="1772792"/>
                  </a:lnTo>
                  <a:lnTo>
                    <a:pt x="909797" y="0"/>
                  </a:lnTo>
                  <a:close/>
                </a:path>
              </a:pathLst>
            </a:custGeom>
            <a:solidFill>
              <a:srgbClr val="8ECFC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575519" y="4622291"/>
              <a:ext cx="909955" cy="1412875"/>
            </a:xfrm>
            <a:custGeom>
              <a:avLst/>
              <a:gdLst/>
              <a:ahLst/>
              <a:cxnLst/>
              <a:rect l="l" t="t" r="r" b="b"/>
              <a:pathLst>
                <a:path w="909954" h="1412875">
                  <a:moveTo>
                    <a:pt x="909797" y="0"/>
                  </a:moveTo>
                  <a:lnTo>
                    <a:pt x="0" y="0"/>
                  </a:lnTo>
                  <a:lnTo>
                    <a:pt x="0" y="1412747"/>
                  </a:lnTo>
                  <a:lnTo>
                    <a:pt x="909797" y="1412747"/>
                  </a:lnTo>
                  <a:lnTo>
                    <a:pt x="909797" y="0"/>
                  </a:lnTo>
                  <a:close/>
                </a:path>
              </a:pathLst>
            </a:custGeom>
            <a:solidFill>
              <a:srgbClr val="BCDFD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7618677" y="6035039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w="0"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7618677" y="6035039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w="0"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376386" y="6072416"/>
            <a:ext cx="48450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75">
                <a:latin typeface="Verdana"/>
                <a:cs typeface="Verdana"/>
              </a:rPr>
              <a:t>EXPRESS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750844" y="6029959"/>
            <a:ext cx="10160" cy="54610"/>
            <a:chOff x="8750844" y="6029959"/>
            <a:chExt cx="10160" cy="54610"/>
          </a:xfrm>
        </p:grpSpPr>
        <p:sp>
          <p:nvSpPr>
            <p:cNvPr id="26" name="object 26"/>
            <p:cNvSpPr/>
            <p:nvPr/>
          </p:nvSpPr>
          <p:spPr>
            <a:xfrm>
              <a:off x="8755924" y="6035039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w="0"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755924" y="6035039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w="0"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8425823" y="6072416"/>
            <a:ext cx="66040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75">
                <a:latin typeface="Verdana"/>
                <a:cs typeface="Verdana"/>
              </a:rPr>
              <a:t>DESCUENTO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888091" y="6029959"/>
            <a:ext cx="10160" cy="54610"/>
            <a:chOff x="9888091" y="6029959"/>
            <a:chExt cx="10160" cy="54610"/>
          </a:xfrm>
        </p:grpSpPr>
        <p:sp>
          <p:nvSpPr>
            <p:cNvPr id="30" name="object 30"/>
            <p:cNvSpPr/>
            <p:nvPr/>
          </p:nvSpPr>
          <p:spPr>
            <a:xfrm>
              <a:off x="9893171" y="6035039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w="0"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9893171" y="6035039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w="0"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9454625" y="6072416"/>
            <a:ext cx="875665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80">
                <a:latin typeface="Verdana"/>
                <a:cs typeface="Verdana"/>
              </a:rPr>
              <a:t>SUPERMERCADO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1025338" y="6029959"/>
            <a:ext cx="10160" cy="54610"/>
            <a:chOff x="11025338" y="6029959"/>
            <a:chExt cx="10160" cy="54610"/>
          </a:xfrm>
        </p:grpSpPr>
        <p:sp>
          <p:nvSpPr>
            <p:cNvPr id="34" name="object 34"/>
            <p:cNvSpPr/>
            <p:nvPr/>
          </p:nvSpPr>
          <p:spPr>
            <a:xfrm>
              <a:off x="11030418" y="6035039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w="0"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1030418" y="6035039"/>
              <a:ext cx="0" cy="44450"/>
            </a:xfrm>
            <a:custGeom>
              <a:avLst/>
              <a:gdLst/>
              <a:ahLst/>
              <a:cxnLst/>
              <a:rect l="l" t="t" r="r" b="b"/>
              <a:pathLst>
                <a:path w="0" h="44450">
                  <a:moveTo>
                    <a:pt x="0" y="0"/>
                  </a:moveTo>
                  <a:lnTo>
                    <a:pt x="0" y="4445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10608143" y="6072416"/>
            <a:ext cx="84328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80">
                <a:latin typeface="Verdana"/>
                <a:cs typeface="Verdana"/>
              </a:rPr>
              <a:t>HIPERMERCADO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898172" y="6029959"/>
            <a:ext cx="54610" cy="10160"/>
            <a:chOff x="6898172" y="6029959"/>
            <a:chExt cx="54610" cy="10160"/>
          </a:xfrm>
        </p:grpSpPr>
        <p:sp>
          <p:nvSpPr>
            <p:cNvPr id="38" name="object 38"/>
            <p:cNvSpPr/>
            <p:nvPr/>
          </p:nvSpPr>
          <p:spPr>
            <a:xfrm>
              <a:off x="6903252" y="603503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6903252" y="603503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6781412" y="5944920"/>
            <a:ext cx="8890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50">
                <a:latin typeface="Verdana"/>
                <a:cs typeface="Verdana"/>
              </a:rPr>
              <a:t>0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6898172" y="5344159"/>
            <a:ext cx="54610" cy="10160"/>
            <a:chOff x="6898172" y="5344159"/>
            <a:chExt cx="54610" cy="10160"/>
          </a:xfrm>
        </p:grpSpPr>
        <p:sp>
          <p:nvSpPr>
            <p:cNvPr id="42" name="object 42"/>
            <p:cNvSpPr/>
            <p:nvPr/>
          </p:nvSpPr>
          <p:spPr>
            <a:xfrm>
              <a:off x="6903252" y="534923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6903252" y="534923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6652031" y="5259120"/>
            <a:ext cx="21971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55">
                <a:latin typeface="Verdana"/>
                <a:cs typeface="Verdana"/>
              </a:rPr>
              <a:t>200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898172" y="4658359"/>
            <a:ext cx="54610" cy="10160"/>
            <a:chOff x="6898172" y="4658359"/>
            <a:chExt cx="54610" cy="10160"/>
          </a:xfrm>
        </p:grpSpPr>
        <p:sp>
          <p:nvSpPr>
            <p:cNvPr id="46" name="object 46"/>
            <p:cNvSpPr/>
            <p:nvPr/>
          </p:nvSpPr>
          <p:spPr>
            <a:xfrm>
              <a:off x="6903252" y="466343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903252" y="466343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6652031" y="4573320"/>
            <a:ext cx="21971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55">
                <a:latin typeface="Verdana"/>
                <a:cs typeface="Verdana"/>
              </a:rPr>
              <a:t>400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898172" y="3972559"/>
            <a:ext cx="54610" cy="10160"/>
            <a:chOff x="6898172" y="3972559"/>
            <a:chExt cx="54610" cy="10160"/>
          </a:xfrm>
        </p:grpSpPr>
        <p:sp>
          <p:nvSpPr>
            <p:cNvPr id="50" name="object 50"/>
            <p:cNvSpPr/>
            <p:nvPr/>
          </p:nvSpPr>
          <p:spPr>
            <a:xfrm>
              <a:off x="6903252" y="397763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6903252" y="397763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6652031" y="3887520"/>
            <a:ext cx="21971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55">
                <a:latin typeface="Verdana"/>
                <a:cs typeface="Verdana"/>
              </a:rPr>
              <a:t>600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6898172" y="3286759"/>
            <a:ext cx="54610" cy="10160"/>
            <a:chOff x="6898172" y="3286759"/>
            <a:chExt cx="54610" cy="10160"/>
          </a:xfrm>
        </p:grpSpPr>
        <p:sp>
          <p:nvSpPr>
            <p:cNvPr id="54" name="object 54"/>
            <p:cNvSpPr/>
            <p:nvPr/>
          </p:nvSpPr>
          <p:spPr>
            <a:xfrm>
              <a:off x="6903252" y="329183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6903252" y="3291839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510540" y="3221004"/>
            <a:ext cx="654177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57505" indent="-319405">
              <a:lnSpc>
                <a:spcPct val="100000"/>
              </a:lnSpc>
              <a:spcBef>
                <a:spcPts val="120"/>
              </a:spcBef>
              <a:buClr>
                <a:srgbClr val="2A9C8E"/>
              </a:buClr>
              <a:buChar char="&gt;"/>
              <a:tabLst>
                <a:tab pos="357505" algn="l"/>
              </a:tabLst>
            </a:pPr>
            <a:r>
              <a:rPr dirty="0" sz="1350" spc="-65">
                <a:solidFill>
                  <a:srgbClr val="12283D"/>
                </a:solidFill>
                <a:latin typeface="Arial Black"/>
                <a:cs typeface="Arial Black"/>
              </a:rPr>
              <a:t>10</a:t>
            </a:r>
            <a:r>
              <a:rPr dirty="0" sz="135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10">
                <a:solidFill>
                  <a:srgbClr val="12283D"/>
                </a:solidFill>
                <a:latin typeface="Arial Black"/>
                <a:cs typeface="Arial Black"/>
              </a:rPr>
              <a:t>of</a:t>
            </a:r>
            <a:r>
              <a:rPr dirty="0" sz="1350" spc="-8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65">
                <a:solidFill>
                  <a:srgbClr val="12283D"/>
                </a:solidFill>
                <a:latin typeface="Arial Black"/>
                <a:cs typeface="Arial Black"/>
              </a:rPr>
              <a:t>40</a:t>
            </a:r>
            <a:r>
              <a:rPr dirty="0" sz="1350" spc="-3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80">
                <a:solidFill>
                  <a:srgbClr val="12283D"/>
                </a:solidFill>
                <a:latin typeface="Arial Black"/>
                <a:cs typeface="Arial Black"/>
              </a:rPr>
              <a:t>stores</a:t>
            </a:r>
            <a:r>
              <a:rPr dirty="0" sz="1350" spc="-2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60">
                <a:solidFill>
                  <a:srgbClr val="12283D"/>
                </a:solidFill>
                <a:latin typeface="Arial Black"/>
                <a:cs typeface="Arial Black"/>
              </a:rPr>
              <a:t>sit</a:t>
            </a:r>
            <a:r>
              <a:rPr dirty="0" sz="1350" spc="-4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80">
                <a:solidFill>
                  <a:srgbClr val="12283D"/>
                </a:solidFill>
                <a:latin typeface="Arial Black"/>
                <a:cs typeface="Arial Black"/>
              </a:rPr>
              <a:t>below</a:t>
            </a:r>
            <a:r>
              <a:rPr dirty="0" sz="1350" spc="-8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50">
                <a:solidFill>
                  <a:srgbClr val="12283D"/>
                </a:solidFill>
                <a:latin typeface="Arial Black"/>
                <a:cs typeface="Arial Black"/>
              </a:rPr>
              <a:t>their</a:t>
            </a:r>
            <a:r>
              <a:rPr dirty="0" sz="1350" spc="-6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55">
                <a:solidFill>
                  <a:srgbClr val="12283D"/>
                </a:solidFill>
                <a:latin typeface="Arial Black"/>
                <a:cs typeface="Arial Black"/>
              </a:rPr>
              <a:t>format</a:t>
            </a:r>
            <a:r>
              <a:rPr dirty="0" sz="1350" spc="-4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55">
                <a:solidFill>
                  <a:srgbClr val="12283D"/>
                </a:solidFill>
                <a:latin typeface="Arial Black"/>
                <a:cs typeface="Arial Black"/>
              </a:rPr>
              <a:t>25th</a:t>
            </a:r>
            <a:r>
              <a:rPr dirty="0" sz="1350" spc="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75">
                <a:solidFill>
                  <a:srgbClr val="12283D"/>
                </a:solidFill>
                <a:latin typeface="Arial Black"/>
                <a:cs typeface="Arial Black"/>
              </a:rPr>
              <a:t>percentile</a:t>
            </a:r>
            <a:r>
              <a:rPr dirty="0" sz="1350" spc="-3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>
                <a:solidFill>
                  <a:srgbClr val="12283D"/>
                </a:solidFill>
                <a:latin typeface="Arial Black"/>
                <a:cs typeface="Arial Black"/>
              </a:rPr>
              <a:t>-</a:t>
            </a:r>
            <a:r>
              <a:rPr dirty="0" sz="1350" spc="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130">
                <a:solidFill>
                  <a:srgbClr val="12283D"/>
                </a:solidFill>
                <a:latin typeface="Arial Black"/>
                <a:cs typeface="Arial Black"/>
              </a:rPr>
              <a:t>a</a:t>
            </a:r>
            <a:r>
              <a:rPr dirty="0" sz="1350" spc="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-105">
                <a:solidFill>
                  <a:srgbClr val="12283D"/>
                </a:solidFill>
                <a:latin typeface="Arial Black"/>
                <a:cs typeface="Arial Black"/>
              </a:rPr>
              <a:t>concrete</a:t>
            </a:r>
            <a:r>
              <a:rPr dirty="0" sz="1350" spc="-3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350" spc="140">
                <a:solidFill>
                  <a:srgbClr val="12283D"/>
                </a:solidFill>
                <a:latin typeface="Arial Black"/>
                <a:cs typeface="Arial Black"/>
              </a:rPr>
              <a:t>i</a:t>
            </a:r>
            <a:r>
              <a:rPr dirty="0" sz="1350" spc="-665">
                <a:solidFill>
                  <a:srgbClr val="12283D"/>
                </a:solidFill>
                <a:latin typeface="Arial Black"/>
                <a:cs typeface="Arial Black"/>
              </a:rPr>
              <a:t>n</a:t>
            </a:r>
            <a:r>
              <a:rPr dirty="0" baseline="37037" sz="1350" spc="112">
                <a:latin typeface="Verdana"/>
                <a:cs typeface="Verdana"/>
              </a:rPr>
              <a:t>8</a:t>
            </a:r>
            <a:r>
              <a:rPr dirty="0" baseline="37037" sz="1350" spc="-465">
                <a:latin typeface="Verdana"/>
                <a:cs typeface="Verdana"/>
              </a:rPr>
              <a:t>0</a:t>
            </a:r>
            <a:r>
              <a:rPr dirty="0" sz="1350" spc="-210">
                <a:solidFill>
                  <a:srgbClr val="12283D"/>
                </a:solidFill>
                <a:latin typeface="Arial Black"/>
                <a:cs typeface="Arial Black"/>
              </a:rPr>
              <a:t>t</a:t>
            </a:r>
            <a:r>
              <a:rPr dirty="0" baseline="37037" sz="1350" spc="-352">
                <a:latin typeface="Verdana"/>
                <a:cs typeface="Verdana"/>
              </a:rPr>
              <a:t>0</a:t>
            </a:r>
            <a:r>
              <a:rPr dirty="0" sz="1350" spc="45">
                <a:solidFill>
                  <a:srgbClr val="12283D"/>
                </a:solidFill>
                <a:latin typeface="Arial Black"/>
                <a:cs typeface="Arial Black"/>
              </a:rPr>
              <a:t>e</a:t>
            </a:r>
            <a:r>
              <a:rPr dirty="0" sz="1350" spc="5">
                <a:solidFill>
                  <a:srgbClr val="12283D"/>
                </a:solidFill>
                <a:latin typeface="Arial Black"/>
                <a:cs typeface="Arial Black"/>
              </a:rPr>
              <a:t>r</a:t>
            </a:r>
            <a:endParaRPr sz="1350">
              <a:latin typeface="Arial Black"/>
              <a:cs typeface="Arial Black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6898172" y="2600960"/>
            <a:ext cx="54610" cy="10160"/>
            <a:chOff x="6898172" y="2600960"/>
            <a:chExt cx="54610" cy="10160"/>
          </a:xfrm>
        </p:grpSpPr>
        <p:sp>
          <p:nvSpPr>
            <p:cNvPr id="58" name="object 58"/>
            <p:cNvSpPr/>
            <p:nvPr/>
          </p:nvSpPr>
          <p:spPr>
            <a:xfrm>
              <a:off x="6903252" y="2606040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6903252" y="2606040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0" name="object 60"/>
          <p:cNvSpPr txBox="1"/>
          <p:nvPr/>
        </p:nvSpPr>
        <p:spPr>
          <a:xfrm>
            <a:off x="6587340" y="2515921"/>
            <a:ext cx="284480" cy="16510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60">
                <a:latin typeface="Verdana"/>
                <a:cs typeface="Verdana"/>
              </a:rPr>
              <a:t>1000</a:t>
            </a:r>
            <a:endParaRPr sz="900">
              <a:latin typeface="Verdana"/>
              <a:cs typeface="Verdan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903252" y="1915160"/>
            <a:ext cx="4798695" cy="4124960"/>
            <a:chOff x="6903252" y="1915160"/>
            <a:chExt cx="4798695" cy="4124960"/>
          </a:xfrm>
        </p:grpSpPr>
        <p:sp>
          <p:nvSpPr>
            <p:cNvPr id="62" name="object 62"/>
            <p:cNvSpPr/>
            <p:nvPr/>
          </p:nvSpPr>
          <p:spPr>
            <a:xfrm>
              <a:off x="6903252" y="1920240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903252" y="1920240"/>
              <a:ext cx="44450" cy="0"/>
            </a:xfrm>
            <a:custGeom>
              <a:avLst/>
              <a:gdLst/>
              <a:ahLst/>
              <a:cxnLst/>
              <a:rect l="l" t="t" r="r" b="b"/>
              <a:pathLst>
                <a:path w="44450" h="0">
                  <a:moveTo>
                    <a:pt x="44450" y="0"/>
                  </a:moveTo>
                  <a:lnTo>
                    <a:pt x="0" y="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6947702" y="1920240"/>
              <a:ext cx="4754245" cy="4114800"/>
            </a:xfrm>
            <a:custGeom>
              <a:avLst/>
              <a:gdLst/>
              <a:ahLst/>
              <a:cxnLst/>
              <a:rect l="l" t="t" r="r" b="b"/>
              <a:pathLst>
                <a:path w="4754245" h="4114800">
                  <a:moveTo>
                    <a:pt x="0" y="4114800"/>
                  </a:moveTo>
                  <a:lnTo>
                    <a:pt x="0" y="0"/>
                  </a:lnTo>
                </a:path>
                <a:path w="4754245" h="4114800">
                  <a:moveTo>
                    <a:pt x="0" y="4114800"/>
                  </a:moveTo>
                  <a:lnTo>
                    <a:pt x="4753691" y="4114800"/>
                  </a:lnTo>
                </a:path>
              </a:pathLst>
            </a:custGeom>
            <a:ln w="101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5" name="object 65"/>
          <p:cNvSpPr txBox="1"/>
          <p:nvPr/>
        </p:nvSpPr>
        <p:spPr>
          <a:xfrm>
            <a:off x="6587340" y="1830121"/>
            <a:ext cx="1243965" cy="5683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900" spc="-20">
                <a:latin typeface="Verdana"/>
                <a:cs typeface="Verdana"/>
              </a:rPr>
              <a:t>1200</a:t>
            </a:r>
            <a:endParaRPr sz="9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80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</a:pPr>
            <a:r>
              <a:rPr dirty="0" sz="1000" spc="-10">
                <a:solidFill>
                  <a:srgbClr val="12283D"/>
                </a:solidFill>
                <a:latin typeface="Verdana"/>
                <a:cs typeface="Verdana"/>
              </a:rPr>
              <a:t>$1,057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8597571" y="3824135"/>
            <a:ext cx="316865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-60">
                <a:solidFill>
                  <a:srgbClr val="12283D"/>
                </a:solidFill>
                <a:latin typeface="Verdana"/>
                <a:cs typeface="Verdana"/>
              </a:rPr>
              <a:t>$588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9734818" y="4067594"/>
            <a:ext cx="314325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-65">
                <a:solidFill>
                  <a:srgbClr val="12283D"/>
                </a:solidFill>
                <a:latin typeface="Verdana"/>
                <a:cs typeface="Verdana"/>
              </a:rPr>
              <a:t>$517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0872065" y="4427639"/>
            <a:ext cx="316865" cy="1822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000" spc="-60">
                <a:solidFill>
                  <a:srgbClr val="12283D"/>
                </a:solidFill>
                <a:latin typeface="Verdana"/>
                <a:cs typeface="Verdana"/>
              </a:rPr>
              <a:t>$412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55980" y="1657317"/>
            <a:ext cx="9357360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baseline="2057" sz="2025" spc="-120">
                <a:solidFill>
                  <a:srgbClr val="12283D"/>
                </a:solidFill>
                <a:latin typeface="Arial Black"/>
                <a:cs typeface="Arial Black"/>
              </a:rPr>
              <a:t>All</a:t>
            </a:r>
            <a:r>
              <a:rPr dirty="0" baseline="2057" sz="2025" spc="-52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baseline="2057" sz="2025" spc="-112">
                <a:solidFill>
                  <a:srgbClr val="12283D"/>
                </a:solidFill>
                <a:latin typeface="Arial Black"/>
                <a:cs typeface="Arial Black"/>
              </a:rPr>
              <a:t>formats</a:t>
            </a:r>
            <a:r>
              <a:rPr dirty="0" baseline="2057" sz="2025" spc="-6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baseline="2057" sz="2025" spc="-82">
                <a:solidFill>
                  <a:srgbClr val="12283D"/>
                </a:solidFill>
                <a:latin typeface="Arial Black"/>
                <a:cs typeface="Arial Black"/>
              </a:rPr>
              <a:t>positive: </a:t>
            </a:r>
            <a:r>
              <a:rPr dirty="0" baseline="2057" sz="2025" spc="-225">
                <a:solidFill>
                  <a:srgbClr val="12283D"/>
                </a:solidFill>
                <a:latin typeface="Arial Black"/>
                <a:cs typeface="Arial Black"/>
              </a:rPr>
              <a:t>EXPRESS</a:t>
            </a:r>
            <a:r>
              <a:rPr dirty="0" baseline="2057" sz="2025" spc="-22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baseline="2057" sz="2025" spc="-44">
                <a:solidFill>
                  <a:srgbClr val="12283D"/>
                </a:solidFill>
                <a:latin typeface="Arial Black"/>
                <a:cs typeface="Arial Black"/>
              </a:rPr>
              <a:t>+11.6%,</a:t>
            </a:r>
            <a:r>
              <a:rPr dirty="0" baseline="2057" sz="2025" spc="-127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baseline="2057" sz="2025" spc="-202">
                <a:solidFill>
                  <a:srgbClr val="12283D"/>
                </a:solidFill>
                <a:latin typeface="Arial Black"/>
                <a:cs typeface="Arial Black"/>
              </a:rPr>
              <a:t>HYPER</a:t>
            </a:r>
            <a:r>
              <a:rPr dirty="0" baseline="2057" sz="2025" spc="-13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baseline="2057" sz="2025" spc="-37">
                <a:solidFill>
                  <a:srgbClr val="12283D"/>
                </a:solidFill>
                <a:latin typeface="Arial Black"/>
                <a:cs typeface="Arial Black"/>
              </a:rPr>
              <a:t>+7.7%,</a:t>
            </a:r>
            <a:r>
              <a:rPr dirty="0" baseline="2057" sz="2025" spc="-127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baseline="2057" sz="2025" spc="-187">
                <a:solidFill>
                  <a:srgbClr val="12283D"/>
                </a:solidFill>
                <a:latin typeface="Arial Black"/>
                <a:cs typeface="Arial Black"/>
              </a:rPr>
              <a:t>SUPER</a:t>
            </a:r>
            <a:r>
              <a:rPr dirty="0" baseline="2057" sz="2025" spc="-13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baseline="2057" sz="2025" spc="-37">
                <a:solidFill>
                  <a:srgbClr val="12283D"/>
                </a:solidFill>
                <a:latin typeface="Arial Black"/>
                <a:cs typeface="Arial Black"/>
              </a:rPr>
              <a:t>+5.7%,</a:t>
            </a:r>
            <a:r>
              <a:rPr dirty="0" baseline="2057" sz="2025" spc="-3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baseline="2057" sz="2025" spc="-179">
                <a:solidFill>
                  <a:srgbClr val="12283D"/>
                </a:solidFill>
                <a:latin typeface="Arial Black"/>
                <a:cs typeface="Arial Black"/>
              </a:rPr>
              <a:t>DISCOUNT</a:t>
            </a:r>
            <a:r>
              <a:rPr dirty="0" baseline="2057" sz="2025" spc="-16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baseline="2057" sz="2025" spc="-30">
                <a:solidFill>
                  <a:srgbClr val="12283D"/>
                </a:solidFill>
                <a:latin typeface="Arial Black"/>
                <a:cs typeface="Arial Black"/>
              </a:rPr>
              <a:t>+4.8%.</a:t>
            </a:r>
            <a:r>
              <a:rPr dirty="0" baseline="2057" sz="2025" spc="157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250" spc="-95">
                <a:solidFill>
                  <a:srgbClr val="12283D"/>
                </a:solidFill>
                <a:latin typeface="Verdana"/>
                <a:cs typeface="Verdana"/>
              </a:rPr>
              <a:t>GMV</a:t>
            </a:r>
            <a:r>
              <a:rPr dirty="0" sz="1250" spc="-155">
                <a:solidFill>
                  <a:srgbClr val="12283D"/>
                </a:solidFill>
                <a:latin typeface="Verdana"/>
                <a:cs typeface="Verdana"/>
              </a:rPr>
              <a:t> </a:t>
            </a:r>
            <a:r>
              <a:rPr dirty="0" sz="1250" spc="-80">
                <a:solidFill>
                  <a:srgbClr val="12283D"/>
                </a:solidFill>
                <a:latin typeface="Verdana"/>
                <a:cs typeface="Verdana"/>
              </a:rPr>
              <a:t>per</a:t>
            </a:r>
            <a:r>
              <a:rPr dirty="0" sz="1250" spc="-125">
                <a:solidFill>
                  <a:srgbClr val="12283D"/>
                </a:solidFill>
                <a:latin typeface="Verdana"/>
                <a:cs typeface="Verdana"/>
              </a:rPr>
              <a:t> </a:t>
            </a:r>
            <a:r>
              <a:rPr dirty="0" sz="1250" spc="-35">
                <a:solidFill>
                  <a:srgbClr val="12283D"/>
                </a:solidFill>
                <a:latin typeface="Verdana"/>
                <a:cs typeface="Verdana"/>
              </a:rPr>
              <a:t>m2</a:t>
            </a:r>
            <a:r>
              <a:rPr dirty="0" sz="1250" spc="229">
                <a:solidFill>
                  <a:srgbClr val="12283D"/>
                </a:solidFill>
                <a:latin typeface="Verdana"/>
                <a:cs typeface="Verdana"/>
              </a:rPr>
              <a:t> </a:t>
            </a:r>
            <a:r>
              <a:rPr dirty="0" sz="1250" spc="-95">
                <a:solidFill>
                  <a:srgbClr val="12283D"/>
                </a:solidFill>
                <a:latin typeface="Verdana"/>
                <a:cs typeface="Verdana"/>
              </a:rPr>
              <a:t>(full</a:t>
            </a:r>
            <a:r>
              <a:rPr dirty="0" sz="1250" spc="-15">
                <a:solidFill>
                  <a:srgbClr val="12283D"/>
                </a:solidFill>
                <a:latin typeface="Verdana"/>
                <a:cs typeface="Verdana"/>
              </a:rPr>
              <a:t> </a:t>
            </a:r>
            <a:r>
              <a:rPr dirty="0" sz="1250" spc="-10">
                <a:solidFill>
                  <a:srgbClr val="12283D"/>
                </a:solidFill>
                <a:latin typeface="Verdana"/>
                <a:cs typeface="Verdana"/>
              </a:rPr>
              <a:t>period)</a:t>
            </a:r>
            <a:endParaRPr sz="12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5713" y="1100074"/>
            <a:ext cx="3652520" cy="1229360"/>
            <a:chOff x="505713" y="1100074"/>
            <a:chExt cx="3652520" cy="1229360"/>
          </a:xfrm>
        </p:grpSpPr>
        <p:sp>
          <p:nvSpPr>
            <p:cNvPr id="3" name="object 3"/>
            <p:cNvSpPr/>
            <p:nvPr/>
          </p:nvSpPr>
          <p:spPr>
            <a:xfrm>
              <a:off x="512063" y="1106424"/>
              <a:ext cx="3639820" cy="1216660"/>
            </a:xfrm>
            <a:custGeom>
              <a:avLst/>
              <a:gdLst/>
              <a:ahLst/>
              <a:cxnLst/>
              <a:rect l="l" t="t" r="r" b="b"/>
              <a:pathLst>
                <a:path w="3639820" h="1216660">
                  <a:moveTo>
                    <a:pt x="3602736" y="0"/>
                  </a:moveTo>
                  <a:lnTo>
                    <a:pt x="36576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5" y="1195577"/>
                  </a:lnTo>
                  <a:lnTo>
                    <a:pt x="9143" y="1207007"/>
                  </a:lnTo>
                  <a:lnTo>
                    <a:pt x="20573" y="1213865"/>
                  </a:lnTo>
                  <a:lnTo>
                    <a:pt x="36576" y="1216152"/>
                  </a:lnTo>
                  <a:lnTo>
                    <a:pt x="3602736" y="1216152"/>
                  </a:lnTo>
                  <a:lnTo>
                    <a:pt x="3618738" y="1213865"/>
                  </a:lnTo>
                  <a:lnTo>
                    <a:pt x="3630167" y="1207007"/>
                  </a:lnTo>
                  <a:lnTo>
                    <a:pt x="3637026" y="1195577"/>
                  </a:lnTo>
                  <a:lnTo>
                    <a:pt x="3639312" y="1179576"/>
                  </a:lnTo>
                  <a:lnTo>
                    <a:pt x="3639312" y="36575"/>
                  </a:lnTo>
                  <a:lnTo>
                    <a:pt x="3637026" y="20574"/>
                  </a:lnTo>
                  <a:lnTo>
                    <a:pt x="3630167" y="9144"/>
                  </a:lnTo>
                  <a:lnTo>
                    <a:pt x="3618738" y="2286"/>
                  </a:lnTo>
                  <a:lnTo>
                    <a:pt x="3602736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12063" y="1106424"/>
              <a:ext cx="3639820" cy="1216660"/>
            </a:xfrm>
            <a:custGeom>
              <a:avLst/>
              <a:gdLst/>
              <a:ahLst/>
              <a:cxnLst/>
              <a:rect l="l" t="t" r="r" b="b"/>
              <a:pathLst>
                <a:path w="3639820" h="1216660">
                  <a:moveTo>
                    <a:pt x="36576" y="1216152"/>
                  </a:moveTo>
                  <a:lnTo>
                    <a:pt x="3602736" y="1216152"/>
                  </a:lnTo>
                  <a:lnTo>
                    <a:pt x="3618738" y="1213865"/>
                  </a:lnTo>
                  <a:lnTo>
                    <a:pt x="3630167" y="1207007"/>
                  </a:lnTo>
                  <a:lnTo>
                    <a:pt x="3637026" y="1195577"/>
                  </a:lnTo>
                  <a:lnTo>
                    <a:pt x="3639312" y="1179576"/>
                  </a:lnTo>
                  <a:lnTo>
                    <a:pt x="3639312" y="36575"/>
                  </a:lnTo>
                  <a:lnTo>
                    <a:pt x="3637026" y="20574"/>
                  </a:lnTo>
                  <a:lnTo>
                    <a:pt x="3630167" y="9144"/>
                  </a:lnTo>
                  <a:lnTo>
                    <a:pt x="3618738" y="2286"/>
                  </a:lnTo>
                  <a:lnTo>
                    <a:pt x="3602736" y="0"/>
                  </a:lnTo>
                  <a:lnTo>
                    <a:pt x="36576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5" y="1195577"/>
                  </a:lnTo>
                  <a:lnTo>
                    <a:pt x="9143" y="1207007"/>
                  </a:lnTo>
                  <a:lnTo>
                    <a:pt x="20573" y="1213865"/>
                  </a:lnTo>
                  <a:lnTo>
                    <a:pt x="36576" y="121615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8639" y="1143000"/>
              <a:ext cx="3566160" cy="36830"/>
            </a:xfrm>
            <a:custGeom>
              <a:avLst/>
              <a:gdLst/>
              <a:ahLst/>
              <a:cxnLst/>
              <a:rect l="l" t="t" r="r" b="b"/>
              <a:pathLst>
                <a:path w="3566160" h="36830">
                  <a:moveTo>
                    <a:pt x="356616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566160" y="36575"/>
                  </a:lnTo>
                  <a:lnTo>
                    <a:pt x="3566160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8639" y="1143000"/>
              <a:ext cx="3566160" cy="36830"/>
            </a:xfrm>
            <a:custGeom>
              <a:avLst/>
              <a:gdLst/>
              <a:ahLst/>
              <a:cxnLst/>
              <a:rect l="l" t="t" r="r" b="b"/>
              <a:pathLst>
                <a:path w="3566160" h="36830">
                  <a:moveTo>
                    <a:pt x="0" y="36575"/>
                  </a:moveTo>
                  <a:lnTo>
                    <a:pt x="3566160" y="36575"/>
                  </a:lnTo>
                  <a:lnTo>
                    <a:pt x="356616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254753" y="1100074"/>
            <a:ext cx="3652520" cy="1229360"/>
            <a:chOff x="4254753" y="1100074"/>
            <a:chExt cx="3652520" cy="1229360"/>
          </a:xfrm>
        </p:grpSpPr>
        <p:sp>
          <p:nvSpPr>
            <p:cNvPr id="8" name="object 8"/>
            <p:cNvSpPr/>
            <p:nvPr/>
          </p:nvSpPr>
          <p:spPr>
            <a:xfrm>
              <a:off x="4261103" y="1106424"/>
              <a:ext cx="3639820" cy="1216660"/>
            </a:xfrm>
            <a:custGeom>
              <a:avLst/>
              <a:gdLst/>
              <a:ahLst/>
              <a:cxnLst/>
              <a:rect l="l" t="t" r="r" b="b"/>
              <a:pathLst>
                <a:path w="3639820" h="1216660">
                  <a:moveTo>
                    <a:pt x="3602736" y="0"/>
                  </a:move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6" y="1195577"/>
                  </a:lnTo>
                  <a:lnTo>
                    <a:pt x="9144" y="1207007"/>
                  </a:lnTo>
                  <a:lnTo>
                    <a:pt x="20574" y="1213865"/>
                  </a:lnTo>
                  <a:lnTo>
                    <a:pt x="36575" y="1216152"/>
                  </a:lnTo>
                  <a:lnTo>
                    <a:pt x="3602736" y="1216152"/>
                  </a:lnTo>
                  <a:lnTo>
                    <a:pt x="3618738" y="1213865"/>
                  </a:lnTo>
                  <a:lnTo>
                    <a:pt x="3630168" y="1207007"/>
                  </a:lnTo>
                  <a:lnTo>
                    <a:pt x="3637026" y="1195577"/>
                  </a:lnTo>
                  <a:lnTo>
                    <a:pt x="3639312" y="1179576"/>
                  </a:lnTo>
                  <a:lnTo>
                    <a:pt x="3639312" y="36575"/>
                  </a:lnTo>
                  <a:lnTo>
                    <a:pt x="3637026" y="20574"/>
                  </a:lnTo>
                  <a:lnTo>
                    <a:pt x="3630168" y="9144"/>
                  </a:lnTo>
                  <a:lnTo>
                    <a:pt x="3618738" y="2286"/>
                  </a:lnTo>
                  <a:lnTo>
                    <a:pt x="3602736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261103" y="1106424"/>
              <a:ext cx="3639820" cy="1216660"/>
            </a:xfrm>
            <a:custGeom>
              <a:avLst/>
              <a:gdLst/>
              <a:ahLst/>
              <a:cxnLst/>
              <a:rect l="l" t="t" r="r" b="b"/>
              <a:pathLst>
                <a:path w="3639820" h="1216660">
                  <a:moveTo>
                    <a:pt x="36575" y="1216152"/>
                  </a:moveTo>
                  <a:lnTo>
                    <a:pt x="3602736" y="1216152"/>
                  </a:lnTo>
                  <a:lnTo>
                    <a:pt x="3618738" y="1213865"/>
                  </a:lnTo>
                  <a:lnTo>
                    <a:pt x="3630168" y="1207007"/>
                  </a:lnTo>
                  <a:lnTo>
                    <a:pt x="3637026" y="1195577"/>
                  </a:lnTo>
                  <a:lnTo>
                    <a:pt x="3639312" y="1179576"/>
                  </a:lnTo>
                  <a:lnTo>
                    <a:pt x="3639312" y="36575"/>
                  </a:lnTo>
                  <a:lnTo>
                    <a:pt x="3637026" y="20574"/>
                  </a:lnTo>
                  <a:lnTo>
                    <a:pt x="3630168" y="9144"/>
                  </a:lnTo>
                  <a:lnTo>
                    <a:pt x="3618738" y="2286"/>
                  </a:lnTo>
                  <a:lnTo>
                    <a:pt x="3602736" y="0"/>
                  </a:ln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6" y="1195577"/>
                  </a:lnTo>
                  <a:lnTo>
                    <a:pt x="9144" y="1207007"/>
                  </a:lnTo>
                  <a:lnTo>
                    <a:pt x="20574" y="1213865"/>
                  </a:lnTo>
                  <a:lnTo>
                    <a:pt x="36575" y="121615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297679" y="1143000"/>
              <a:ext cx="3566160" cy="36830"/>
            </a:xfrm>
            <a:custGeom>
              <a:avLst/>
              <a:gdLst/>
              <a:ahLst/>
              <a:cxnLst/>
              <a:rect l="l" t="t" r="r" b="b"/>
              <a:pathLst>
                <a:path w="3566159" h="36830">
                  <a:moveTo>
                    <a:pt x="356616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566160" y="36575"/>
                  </a:lnTo>
                  <a:lnTo>
                    <a:pt x="3566160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297679" y="1143000"/>
              <a:ext cx="3566160" cy="36830"/>
            </a:xfrm>
            <a:custGeom>
              <a:avLst/>
              <a:gdLst/>
              <a:ahLst/>
              <a:cxnLst/>
              <a:rect l="l" t="t" r="r" b="b"/>
              <a:pathLst>
                <a:path w="3566159" h="36830">
                  <a:moveTo>
                    <a:pt x="0" y="36575"/>
                  </a:moveTo>
                  <a:lnTo>
                    <a:pt x="3566160" y="36575"/>
                  </a:lnTo>
                  <a:lnTo>
                    <a:pt x="356616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8003793" y="1100074"/>
            <a:ext cx="3652520" cy="1229360"/>
            <a:chOff x="8003793" y="1100074"/>
            <a:chExt cx="3652520" cy="1229360"/>
          </a:xfrm>
        </p:grpSpPr>
        <p:sp>
          <p:nvSpPr>
            <p:cNvPr id="13" name="object 13"/>
            <p:cNvSpPr/>
            <p:nvPr/>
          </p:nvSpPr>
          <p:spPr>
            <a:xfrm>
              <a:off x="8010143" y="1106424"/>
              <a:ext cx="3639820" cy="1216660"/>
            </a:xfrm>
            <a:custGeom>
              <a:avLst/>
              <a:gdLst/>
              <a:ahLst/>
              <a:cxnLst/>
              <a:rect l="l" t="t" r="r" b="b"/>
              <a:pathLst>
                <a:path w="3639820" h="1216660">
                  <a:moveTo>
                    <a:pt x="3602735" y="0"/>
                  </a:move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5" y="1195577"/>
                  </a:lnTo>
                  <a:lnTo>
                    <a:pt x="9143" y="1207007"/>
                  </a:lnTo>
                  <a:lnTo>
                    <a:pt x="20573" y="1213865"/>
                  </a:lnTo>
                  <a:lnTo>
                    <a:pt x="36575" y="1216152"/>
                  </a:lnTo>
                  <a:lnTo>
                    <a:pt x="3602735" y="1216152"/>
                  </a:lnTo>
                  <a:lnTo>
                    <a:pt x="3618737" y="1213865"/>
                  </a:lnTo>
                  <a:lnTo>
                    <a:pt x="3630167" y="1207007"/>
                  </a:lnTo>
                  <a:lnTo>
                    <a:pt x="3637025" y="1195577"/>
                  </a:lnTo>
                  <a:lnTo>
                    <a:pt x="3639311" y="1179576"/>
                  </a:lnTo>
                  <a:lnTo>
                    <a:pt x="3639311" y="36575"/>
                  </a:lnTo>
                  <a:lnTo>
                    <a:pt x="3637026" y="20574"/>
                  </a:lnTo>
                  <a:lnTo>
                    <a:pt x="3630168" y="9144"/>
                  </a:lnTo>
                  <a:lnTo>
                    <a:pt x="3618738" y="2286"/>
                  </a:lnTo>
                  <a:lnTo>
                    <a:pt x="3602735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010143" y="1106424"/>
              <a:ext cx="3639820" cy="1216660"/>
            </a:xfrm>
            <a:custGeom>
              <a:avLst/>
              <a:gdLst/>
              <a:ahLst/>
              <a:cxnLst/>
              <a:rect l="l" t="t" r="r" b="b"/>
              <a:pathLst>
                <a:path w="3639820" h="1216660">
                  <a:moveTo>
                    <a:pt x="36575" y="1216152"/>
                  </a:moveTo>
                  <a:lnTo>
                    <a:pt x="3602735" y="1216152"/>
                  </a:lnTo>
                  <a:lnTo>
                    <a:pt x="3618737" y="1213865"/>
                  </a:lnTo>
                  <a:lnTo>
                    <a:pt x="3630167" y="1207007"/>
                  </a:lnTo>
                  <a:lnTo>
                    <a:pt x="3637025" y="1195577"/>
                  </a:lnTo>
                  <a:lnTo>
                    <a:pt x="3639311" y="1179576"/>
                  </a:lnTo>
                  <a:lnTo>
                    <a:pt x="3639311" y="36575"/>
                  </a:lnTo>
                  <a:lnTo>
                    <a:pt x="3637026" y="20574"/>
                  </a:lnTo>
                  <a:lnTo>
                    <a:pt x="3630168" y="9144"/>
                  </a:lnTo>
                  <a:lnTo>
                    <a:pt x="3618738" y="2286"/>
                  </a:lnTo>
                  <a:lnTo>
                    <a:pt x="3602735" y="0"/>
                  </a:ln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5" y="1195577"/>
                  </a:lnTo>
                  <a:lnTo>
                    <a:pt x="9143" y="1207007"/>
                  </a:lnTo>
                  <a:lnTo>
                    <a:pt x="20573" y="1213865"/>
                  </a:lnTo>
                  <a:lnTo>
                    <a:pt x="36575" y="121615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046719" y="1143000"/>
              <a:ext cx="3566160" cy="36830"/>
            </a:xfrm>
            <a:custGeom>
              <a:avLst/>
              <a:gdLst/>
              <a:ahLst/>
              <a:cxnLst/>
              <a:rect l="l" t="t" r="r" b="b"/>
              <a:pathLst>
                <a:path w="3566159" h="36830">
                  <a:moveTo>
                    <a:pt x="3566159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566159" y="36575"/>
                  </a:lnTo>
                  <a:lnTo>
                    <a:pt x="3566159" y="0"/>
                  </a:lnTo>
                  <a:close/>
                </a:path>
              </a:pathLst>
            </a:custGeom>
            <a:solidFill>
              <a:srgbClr val="E9C4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046719" y="1143000"/>
              <a:ext cx="3566160" cy="36830"/>
            </a:xfrm>
            <a:custGeom>
              <a:avLst/>
              <a:gdLst/>
              <a:ahLst/>
              <a:cxnLst/>
              <a:rect l="l" t="t" r="r" b="b"/>
              <a:pathLst>
                <a:path w="3566159" h="36830">
                  <a:moveTo>
                    <a:pt x="0" y="36575"/>
                  </a:moveTo>
                  <a:lnTo>
                    <a:pt x="3566159" y="36575"/>
                  </a:lnTo>
                  <a:lnTo>
                    <a:pt x="3566159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9C4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-6350" y="706881"/>
            <a:ext cx="12202160" cy="49530"/>
            <a:chOff x="-6350" y="706881"/>
            <a:chExt cx="12202160" cy="49530"/>
          </a:xfrm>
        </p:grpSpPr>
        <p:sp>
          <p:nvSpPr>
            <p:cNvPr id="18" name="object 18"/>
            <p:cNvSpPr/>
            <p:nvPr/>
          </p:nvSpPr>
          <p:spPr>
            <a:xfrm>
              <a:off x="0" y="713231"/>
              <a:ext cx="12189460" cy="36830"/>
            </a:xfrm>
            <a:custGeom>
              <a:avLst/>
              <a:gdLst/>
              <a:ahLst/>
              <a:cxnLst/>
              <a:rect l="l" t="t" r="r" b="b"/>
              <a:pathLst>
                <a:path w="12189460" h="36829">
                  <a:moveTo>
                    <a:pt x="12188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12188952" y="3657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0" y="713231"/>
              <a:ext cx="12189460" cy="36830"/>
            </a:xfrm>
            <a:custGeom>
              <a:avLst/>
              <a:gdLst/>
              <a:ahLst/>
              <a:cxnLst/>
              <a:rect l="l" t="t" r="r" b="b"/>
              <a:pathLst>
                <a:path w="12189460" h="36829">
                  <a:moveTo>
                    <a:pt x="0" y="36575"/>
                  </a:moveTo>
                  <a:lnTo>
                    <a:pt x="12188952" y="36575"/>
                  </a:lnTo>
                  <a:lnTo>
                    <a:pt x="12188952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699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35940" y="78473"/>
            <a:ext cx="1172845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25">
                <a:solidFill>
                  <a:srgbClr val="E9C469"/>
                </a:solidFill>
                <a:latin typeface="Arial Black"/>
                <a:cs typeface="Arial Black"/>
              </a:rPr>
              <a:t>OPPORTUNITIES</a:t>
            </a:r>
            <a:endParaRPr sz="1150">
              <a:latin typeface="Arial Black"/>
              <a:cs typeface="Arial Black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xfrm>
            <a:off x="535940" y="231742"/>
            <a:ext cx="4384675" cy="3911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95"/>
              <a:t>Three</a:t>
            </a:r>
            <a:r>
              <a:rPr dirty="0" spc="-95"/>
              <a:t> </a:t>
            </a:r>
            <a:r>
              <a:rPr dirty="0" spc="-220"/>
              <a:t>levers</a:t>
            </a:r>
            <a:r>
              <a:rPr dirty="0" spc="-80"/>
              <a:t> </a:t>
            </a:r>
            <a:r>
              <a:rPr dirty="0" spc="-409"/>
              <a:t>we</a:t>
            </a:r>
            <a:r>
              <a:rPr dirty="0" spc="-95"/>
              <a:t> </a:t>
            </a:r>
            <a:r>
              <a:rPr dirty="0" spc="-170"/>
              <a:t>can</a:t>
            </a:r>
            <a:r>
              <a:rPr dirty="0" spc="-165"/>
              <a:t> </a:t>
            </a:r>
            <a:r>
              <a:rPr dirty="0" spc="-125"/>
              <a:t>pull</a:t>
            </a:r>
            <a:r>
              <a:rPr dirty="0" spc="-80"/>
              <a:t> </a:t>
            </a:r>
            <a:r>
              <a:rPr dirty="0" spc="-290"/>
              <a:t>now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1375349" y="277855"/>
            <a:ext cx="24511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35">
                <a:solidFill>
                  <a:srgbClr val="7C92A3"/>
                </a:solidFill>
                <a:latin typeface="Verdana"/>
                <a:cs typeface="Verdana"/>
              </a:rPr>
              <a:t>3/5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18413" y="1285098"/>
            <a:ext cx="3627120" cy="783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105"/>
              </a:spcBef>
            </a:pPr>
            <a:r>
              <a:rPr dirty="0" sz="2850" spc="-275" b="1">
                <a:solidFill>
                  <a:srgbClr val="2A9C8E"/>
                </a:solidFill>
                <a:latin typeface="Verdana"/>
                <a:cs typeface="Verdana"/>
              </a:rPr>
              <a:t>2.5x</a:t>
            </a:r>
            <a:endParaRPr sz="2850">
              <a:latin typeface="Verdana"/>
              <a:cs typeface="Verdana"/>
            </a:endParaRPr>
          </a:p>
          <a:p>
            <a:pPr marL="258445">
              <a:lnSpc>
                <a:spcPct val="100000"/>
              </a:lnSpc>
              <a:spcBef>
                <a:spcPts val="1275"/>
              </a:spcBef>
            </a:pPr>
            <a:r>
              <a:rPr dirty="0" sz="1050" spc="-90">
                <a:solidFill>
                  <a:srgbClr val="6A7B86"/>
                </a:solidFill>
                <a:latin typeface="Verdana"/>
                <a:cs typeface="Verdana"/>
              </a:rPr>
              <a:t>EXPRESS</a:t>
            </a:r>
            <a:r>
              <a:rPr dirty="0" sz="1050" spc="-3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110">
                <a:solidFill>
                  <a:srgbClr val="6A7B86"/>
                </a:solidFill>
                <a:latin typeface="Verdana"/>
                <a:cs typeface="Verdana"/>
              </a:rPr>
              <a:t>GMV/m2</a:t>
            </a:r>
            <a:r>
              <a:rPr dirty="0" sz="1050" spc="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70">
                <a:solidFill>
                  <a:srgbClr val="6A7B86"/>
                </a:solidFill>
                <a:latin typeface="Verdana"/>
                <a:cs typeface="Verdana"/>
              </a:rPr>
              <a:t>vs</a:t>
            </a:r>
            <a:r>
              <a:rPr dirty="0" sz="1050" spc="-3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6A7B86"/>
                </a:solidFill>
                <a:latin typeface="Verdana"/>
                <a:cs typeface="Verdana"/>
              </a:rPr>
              <a:t>hypermarket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267453" y="1285098"/>
            <a:ext cx="3627120" cy="783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105"/>
              </a:spcBef>
            </a:pPr>
            <a:r>
              <a:rPr dirty="0" sz="2850" spc="-530" b="1">
                <a:solidFill>
                  <a:srgbClr val="2A9C8E"/>
                </a:solidFill>
                <a:latin typeface="Verdana"/>
                <a:cs typeface="Verdana"/>
              </a:rPr>
              <a:t>+10%</a:t>
            </a:r>
            <a:endParaRPr sz="2850">
              <a:latin typeface="Verdana"/>
              <a:cs typeface="Verdana"/>
            </a:endParaRPr>
          </a:p>
          <a:p>
            <a:pPr marL="258445">
              <a:lnSpc>
                <a:spcPct val="100000"/>
              </a:lnSpc>
              <a:spcBef>
                <a:spcPts val="1275"/>
              </a:spcBef>
            </a:pPr>
            <a:r>
              <a:rPr dirty="0" sz="1050" spc="-80">
                <a:solidFill>
                  <a:srgbClr val="6A7B86"/>
                </a:solidFill>
                <a:latin typeface="Verdana"/>
                <a:cs typeface="Verdana"/>
              </a:rPr>
              <a:t>Proven</a:t>
            </a:r>
            <a:r>
              <a:rPr dirty="0" sz="1050" spc="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6A7B86"/>
                </a:solidFill>
                <a:latin typeface="Verdana"/>
                <a:cs typeface="Verdana"/>
              </a:rPr>
              <a:t>display </a:t>
            </a:r>
            <a:r>
              <a:rPr dirty="0" sz="1050" spc="-40">
                <a:solidFill>
                  <a:srgbClr val="6A7B86"/>
                </a:solidFill>
                <a:latin typeface="Verdana"/>
                <a:cs typeface="Verdana"/>
              </a:rPr>
              <a:t>lift</a:t>
            </a:r>
            <a:r>
              <a:rPr dirty="0" sz="1050" spc="-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100">
                <a:solidFill>
                  <a:srgbClr val="6A7B86"/>
                </a:solidFill>
                <a:latin typeface="Verdana"/>
                <a:cs typeface="Verdana"/>
              </a:rPr>
              <a:t>(p=0.</a:t>
            </a:r>
            <a:r>
              <a:rPr dirty="0" sz="1050" spc="-2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6A7B86"/>
                </a:solidFill>
                <a:latin typeface="Verdana"/>
                <a:cs typeface="Verdana"/>
              </a:rPr>
              <a:t>004)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016493" y="1285098"/>
            <a:ext cx="3627120" cy="783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105"/>
              </a:spcBef>
            </a:pPr>
            <a:r>
              <a:rPr dirty="0" sz="2850" spc="-575" b="1">
                <a:solidFill>
                  <a:srgbClr val="E9C469"/>
                </a:solidFill>
                <a:latin typeface="Verdana"/>
                <a:cs typeface="Verdana"/>
              </a:rPr>
              <a:t>40%</a:t>
            </a:r>
            <a:endParaRPr sz="2850">
              <a:latin typeface="Verdana"/>
              <a:cs typeface="Verdana"/>
            </a:endParaRPr>
          </a:p>
          <a:p>
            <a:pPr marL="258445">
              <a:lnSpc>
                <a:spcPct val="100000"/>
              </a:lnSpc>
              <a:spcBef>
                <a:spcPts val="1275"/>
              </a:spcBef>
            </a:pPr>
            <a:r>
              <a:rPr dirty="0" sz="1050" spc="-35">
                <a:solidFill>
                  <a:srgbClr val="6A7B86"/>
                </a:solidFill>
                <a:latin typeface="Verdana"/>
                <a:cs typeface="Verdana"/>
              </a:rPr>
              <a:t>of</a:t>
            </a:r>
            <a:r>
              <a:rPr dirty="0" sz="1050" spc="-10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6A7B86"/>
                </a:solidFill>
                <a:latin typeface="Verdana"/>
                <a:cs typeface="Verdana"/>
              </a:rPr>
              <a:t>sales </a:t>
            </a:r>
            <a:r>
              <a:rPr dirty="0" sz="1050" spc="-55">
                <a:solidFill>
                  <a:srgbClr val="6A7B86"/>
                </a:solidFill>
                <a:latin typeface="Verdana"/>
                <a:cs typeface="Verdana"/>
              </a:rPr>
              <a:t>tied</a:t>
            </a:r>
            <a:r>
              <a:rPr dirty="0" sz="1050" spc="-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60">
                <a:solidFill>
                  <a:srgbClr val="6A7B86"/>
                </a:solidFill>
                <a:latin typeface="Verdana"/>
                <a:cs typeface="Verdana"/>
              </a:rPr>
              <a:t>to</a:t>
            </a:r>
            <a:r>
              <a:rPr dirty="0" sz="1050" spc="-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100">
                <a:solidFill>
                  <a:srgbClr val="6A7B86"/>
                </a:solidFill>
                <a:latin typeface="Verdana"/>
                <a:cs typeface="Verdana"/>
              </a:rPr>
              <a:t>a</a:t>
            </a:r>
            <a:r>
              <a:rPr dirty="0" sz="1050" spc="-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6A7B86"/>
                </a:solidFill>
                <a:latin typeface="Verdana"/>
                <a:cs typeface="Verdana"/>
              </a:rPr>
              <a:t>loyalty</a:t>
            </a:r>
            <a:r>
              <a:rPr dirty="0" sz="105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6A7B86"/>
                </a:solidFill>
                <a:latin typeface="Verdana"/>
                <a:cs typeface="Verdana"/>
              </a:rPr>
              <a:t>member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35940" y="2718084"/>
            <a:ext cx="14668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10">
                <a:solidFill>
                  <a:srgbClr val="2A9C8E"/>
                </a:solidFill>
                <a:latin typeface="Arial Black"/>
                <a:cs typeface="Arial Black"/>
              </a:rPr>
              <a:t>&gt;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55980" y="2662907"/>
            <a:ext cx="6568440" cy="53149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400" spc="-95">
                <a:solidFill>
                  <a:srgbClr val="12283D"/>
                </a:solidFill>
                <a:latin typeface="Arial Black"/>
                <a:cs typeface="Arial Black"/>
              </a:rPr>
              <a:t>Expansion</a:t>
            </a:r>
            <a:r>
              <a:rPr dirty="0" sz="1400" spc="2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mix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12283D"/>
                </a:solidFill>
                <a:latin typeface="Arial Black"/>
                <a:cs typeface="Arial Black"/>
              </a:rPr>
              <a:t>-</a:t>
            </a:r>
            <a:r>
              <a:rPr dirty="0" sz="1400" spc="3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favor 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EXPRESS.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1200" spc="-130">
                <a:solidFill>
                  <a:srgbClr val="6A7B86"/>
                </a:solidFill>
                <a:latin typeface="Verdana"/>
                <a:cs typeface="Verdana"/>
              </a:rPr>
              <a:t>$1,057/m2</a:t>
            </a:r>
            <a:r>
              <a:rPr dirty="0" sz="1200" spc="-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vs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6A7B86"/>
                </a:solidFill>
                <a:latin typeface="Verdana"/>
                <a:cs typeface="Verdana"/>
              </a:rPr>
              <a:t>$412</a:t>
            </a:r>
            <a:r>
              <a:rPr dirty="0" sz="1200" spc="-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for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5">
                <a:solidFill>
                  <a:srgbClr val="6A7B86"/>
                </a:solidFill>
                <a:latin typeface="Verdana"/>
                <a:cs typeface="Verdana"/>
              </a:rPr>
              <a:t>hypermarkets,</a:t>
            </a:r>
            <a:r>
              <a:rPr dirty="0" sz="1200" spc="2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fastest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comp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5">
                <a:solidFill>
                  <a:srgbClr val="6A7B86"/>
                </a:solidFill>
                <a:latin typeface="Verdana"/>
                <a:cs typeface="Verdana"/>
              </a:rPr>
              <a:t>growth</a:t>
            </a:r>
            <a:r>
              <a:rPr dirty="0" sz="1200" spc="-2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40">
                <a:solidFill>
                  <a:srgbClr val="6A7B86"/>
                </a:solidFill>
                <a:latin typeface="Verdana"/>
                <a:cs typeface="Verdana"/>
              </a:rPr>
              <a:t>(+11.</a:t>
            </a:r>
            <a:r>
              <a:rPr dirty="0" sz="1200" spc="-3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90">
                <a:solidFill>
                  <a:srgbClr val="6A7B86"/>
                </a:solidFill>
                <a:latin typeface="Verdana"/>
                <a:cs typeface="Verdana"/>
              </a:rPr>
              <a:t>6%),</a:t>
            </a:r>
            <a:r>
              <a:rPr dirty="0" sz="1200" spc="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~13x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less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capital</a:t>
            </a:r>
            <a:r>
              <a:rPr dirty="0" sz="1200" spc="3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per</a:t>
            </a:r>
            <a:r>
              <a:rPr dirty="0" sz="1200" spc="-10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6A7B86"/>
                </a:solidFill>
                <a:latin typeface="Verdana"/>
                <a:cs typeface="Verdana"/>
              </a:rPr>
              <a:t>store.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35940" y="3531587"/>
            <a:ext cx="5805170" cy="53149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580"/>
              </a:spcBef>
              <a:buClr>
                <a:srgbClr val="2A9C8E"/>
              </a:buClr>
              <a:buSzPct val="96428"/>
              <a:buChar char="&gt;"/>
              <a:tabLst>
                <a:tab pos="332105" algn="l"/>
              </a:tabLst>
            </a:pPr>
            <a:r>
              <a:rPr dirty="0" sz="1400" spc="-75">
                <a:solidFill>
                  <a:srgbClr val="12283D"/>
                </a:solidFill>
                <a:latin typeface="Arial Black"/>
                <a:cs typeface="Arial Black"/>
              </a:rPr>
              <a:t>Merchandising</a:t>
            </a:r>
            <a:r>
              <a:rPr dirty="0" sz="1400" spc="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12283D"/>
                </a:solidFill>
                <a:latin typeface="Arial Black"/>
                <a:cs typeface="Arial Black"/>
              </a:rPr>
              <a:t>-</a:t>
            </a:r>
            <a:r>
              <a:rPr dirty="0" sz="1400" spc="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14">
                <a:solidFill>
                  <a:srgbClr val="12283D"/>
                </a:solidFill>
                <a:latin typeface="Arial Black"/>
                <a:cs typeface="Arial Black"/>
              </a:rPr>
              <a:t>scale</a:t>
            </a: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the</a:t>
            </a:r>
            <a:r>
              <a:rPr dirty="0" sz="1400" spc="-3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new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display.</a:t>
            </a:r>
            <a:endParaRPr sz="1400">
              <a:latin typeface="Arial Black"/>
              <a:cs typeface="Arial Black"/>
            </a:endParaRPr>
          </a:p>
          <a:p>
            <a:pPr marL="332105">
              <a:lnSpc>
                <a:spcPct val="100000"/>
              </a:lnSpc>
              <a:spcBef>
                <a:spcPts val="384"/>
              </a:spcBef>
            </a:pPr>
            <a:r>
              <a:rPr dirty="0" sz="1200" spc="-50">
                <a:solidFill>
                  <a:srgbClr val="6A7B86"/>
                </a:solidFill>
                <a:latin typeface="Verdana"/>
                <a:cs typeface="Verdana"/>
              </a:rPr>
              <a:t>A</a:t>
            </a:r>
            <a:r>
              <a:rPr dirty="0" sz="1200" spc="-1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45">
                <a:solidFill>
                  <a:srgbClr val="6A7B86"/>
                </a:solidFill>
                <a:latin typeface="Verdana"/>
                <a:cs typeface="Verdana"/>
              </a:rPr>
              <a:t>+10%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GMV</a:t>
            </a:r>
            <a:r>
              <a:rPr dirty="0" sz="1200" spc="-12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lift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driven</a:t>
            </a:r>
            <a:r>
              <a:rPr dirty="0" sz="120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by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traffic</a:t>
            </a:r>
            <a:r>
              <a:rPr dirty="0" sz="1200" spc="-4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0">
                <a:solidFill>
                  <a:srgbClr val="6A7B86"/>
                </a:solidFill>
                <a:latin typeface="Verdana"/>
                <a:cs typeface="Verdana"/>
              </a:rPr>
              <a:t>and</a:t>
            </a:r>
            <a:r>
              <a:rPr dirty="0" sz="1200" spc="-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6A7B86"/>
                </a:solidFill>
                <a:latin typeface="Verdana"/>
                <a:cs typeface="Verdana"/>
              </a:rPr>
              <a:t>volume,</a:t>
            </a:r>
            <a:r>
              <a:rPr dirty="0" sz="1200" spc="3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not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discounting</a:t>
            </a:r>
            <a:r>
              <a:rPr dirty="0" sz="1200" spc="-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(ticket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stayed</a:t>
            </a:r>
            <a:r>
              <a:rPr dirty="0" sz="120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6A7B86"/>
                </a:solidFill>
                <a:latin typeface="Verdana"/>
                <a:cs typeface="Verdana"/>
              </a:rPr>
              <a:t>flat).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5940" y="4455444"/>
            <a:ext cx="14668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10">
                <a:solidFill>
                  <a:srgbClr val="2A9C8E"/>
                </a:solidFill>
                <a:latin typeface="Arial Black"/>
                <a:cs typeface="Arial Black"/>
              </a:rPr>
              <a:t>&gt;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55980" y="4400267"/>
            <a:ext cx="6699884" cy="53149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400" spc="-65">
                <a:solidFill>
                  <a:srgbClr val="12283D"/>
                </a:solidFill>
                <a:latin typeface="Arial Black"/>
                <a:cs typeface="Arial Black"/>
              </a:rPr>
              <a:t>Loyalty</a:t>
            </a: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12283D"/>
                </a:solidFill>
                <a:latin typeface="Arial Black"/>
                <a:cs typeface="Arial Black"/>
              </a:rPr>
              <a:t>-</a:t>
            </a:r>
            <a:r>
              <a:rPr dirty="0" sz="1400" spc="-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2283D"/>
                </a:solidFill>
                <a:latin typeface="Arial Black"/>
                <a:cs typeface="Arial Black"/>
              </a:rPr>
              <a:t>grow</a:t>
            </a: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spend-</a:t>
            </a:r>
            <a:r>
              <a:rPr dirty="0" sz="1400" spc="-35">
                <a:solidFill>
                  <a:srgbClr val="12283D"/>
                </a:solidFill>
                <a:latin typeface="Arial Black"/>
                <a:cs typeface="Arial Black"/>
              </a:rPr>
              <a:t>per-visit,</a:t>
            </a:r>
            <a:r>
              <a:rPr dirty="0" sz="1400" spc="6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not</a:t>
            </a:r>
            <a:r>
              <a:rPr dirty="0" sz="1400" spc="-55">
                <a:solidFill>
                  <a:srgbClr val="12283D"/>
                </a:solidFill>
                <a:latin typeface="Arial Black"/>
                <a:cs typeface="Arial Black"/>
              </a:rPr>
              <a:t> just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retention.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Retention</a:t>
            </a:r>
            <a:r>
              <a:rPr dirty="0" sz="1200" spc="-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is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already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50">
                <a:solidFill>
                  <a:srgbClr val="6A7B86"/>
                </a:solidFill>
                <a:latin typeface="Verdana"/>
                <a:cs typeface="Verdana"/>
              </a:rPr>
              <a:t>~70%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at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6A7B86"/>
                </a:solidFill>
                <a:latin typeface="Verdana"/>
                <a:cs typeface="Verdana"/>
              </a:rPr>
              <a:t>month</a:t>
            </a:r>
            <a:r>
              <a:rPr dirty="0" sz="1200" spc="-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50">
                <a:solidFill>
                  <a:srgbClr val="6A7B86"/>
                </a:solidFill>
                <a:latin typeface="Verdana"/>
                <a:cs typeface="Verdana"/>
              </a:rPr>
              <a:t>6,</a:t>
            </a:r>
            <a:r>
              <a:rPr dirty="0" sz="1200" spc="2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but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loyal</a:t>
            </a:r>
            <a:r>
              <a:rPr dirty="0" sz="1200" spc="2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ticket 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is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flat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30">
                <a:solidFill>
                  <a:srgbClr val="6A7B86"/>
                </a:solidFill>
                <a:latin typeface="Verdana"/>
                <a:cs typeface="Verdana"/>
              </a:rPr>
              <a:t>(~$280).</a:t>
            </a:r>
            <a:r>
              <a:rPr dirty="0" sz="1200" spc="3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Only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60">
                <a:solidFill>
                  <a:srgbClr val="6A7B86"/>
                </a:solidFill>
                <a:latin typeface="Verdana"/>
                <a:cs typeface="Verdana"/>
              </a:rPr>
              <a:t>40%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6A7B86"/>
                </a:solidFill>
                <a:latin typeface="Verdana"/>
                <a:cs typeface="Verdana"/>
              </a:rPr>
              <a:t>of</a:t>
            </a:r>
            <a:r>
              <a:rPr dirty="0" sz="1200" spc="-1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tx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 are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6A7B86"/>
                </a:solidFill>
                <a:latin typeface="Verdana"/>
                <a:cs typeface="Verdana"/>
              </a:rPr>
              <a:t>identified.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5940" y="5324124"/>
            <a:ext cx="14668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10">
                <a:solidFill>
                  <a:srgbClr val="2A9C8E"/>
                </a:solidFill>
                <a:latin typeface="Arial Black"/>
                <a:cs typeface="Arial Black"/>
              </a:rPr>
              <a:t>&gt;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55980" y="5268947"/>
            <a:ext cx="6127115" cy="53149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400" spc="-80">
                <a:solidFill>
                  <a:srgbClr val="12283D"/>
                </a:solidFill>
                <a:latin typeface="Arial Black"/>
                <a:cs typeface="Arial Black"/>
              </a:rPr>
              <a:t>Promotions</a:t>
            </a:r>
            <a:r>
              <a:rPr dirty="0" sz="1400" spc="-2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>
                <a:solidFill>
                  <a:srgbClr val="12283D"/>
                </a:solidFill>
                <a:latin typeface="Arial Black"/>
                <a:cs typeface="Arial Black"/>
              </a:rPr>
              <a:t>-</a:t>
            </a:r>
            <a:r>
              <a:rPr dirty="0" sz="1400" spc="2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2283D"/>
                </a:solidFill>
                <a:latin typeface="Arial Black"/>
                <a:cs typeface="Arial Black"/>
              </a:rPr>
              <a:t>lean</a:t>
            </a:r>
            <a:r>
              <a:rPr dirty="0" sz="1400" spc="2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into</a:t>
            </a:r>
            <a:r>
              <a:rPr dirty="0" sz="1400" spc="-3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consumables.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Unit 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uplift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peaks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in</a:t>
            </a:r>
            <a:r>
              <a:rPr dirty="0" sz="1200" spc="-2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6A7B86"/>
                </a:solidFill>
                <a:latin typeface="Verdana"/>
                <a:cs typeface="Verdana"/>
              </a:rPr>
              <a:t>Food</a:t>
            </a:r>
            <a:r>
              <a:rPr dirty="0" sz="1200" spc="-2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at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50">
                <a:solidFill>
                  <a:srgbClr val="6A7B86"/>
                </a:solidFill>
                <a:latin typeface="Verdana"/>
                <a:cs typeface="Verdana"/>
              </a:rPr>
              <a:t>+7.</a:t>
            </a:r>
            <a:r>
              <a:rPr dirty="0" sz="1200" spc="-3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245">
                <a:solidFill>
                  <a:srgbClr val="6A7B86"/>
                </a:solidFill>
                <a:latin typeface="Verdana"/>
                <a:cs typeface="Verdana"/>
              </a:rPr>
              <a:t>4%;</a:t>
            </a:r>
            <a:r>
              <a:rPr dirty="0" sz="1200" spc="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in</a:t>
            </a:r>
            <a:r>
              <a:rPr dirty="0" sz="1200" spc="-2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Electronics/Apparel</a:t>
            </a:r>
            <a:r>
              <a:rPr dirty="0" sz="1200" spc="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0">
                <a:solidFill>
                  <a:srgbClr val="6A7B86"/>
                </a:solidFill>
                <a:latin typeface="Verdana"/>
                <a:cs typeface="Verdana"/>
              </a:rPr>
              <a:t>promos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are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mostly pure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50">
                <a:solidFill>
                  <a:srgbClr val="6A7B86"/>
                </a:solidFill>
                <a:latin typeface="Verdana"/>
                <a:cs typeface="Verdana"/>
              </a:rPr>
              <a:t>discount.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5940" y="6442354"/>
            <a:ext cx="3342004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Each</a:t>
            </a:r>
            <a:r>
              <a:rPr dirty="0" sz="850" spc="-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10" i="1">
                <a:solidFill>
                  <a:srgbClr val="6A7B86"/>
                </a:solidFill>
                <a:latin typeface="Verdana"/>
                <a:cs typeface="Verdana"/>
              </a:rPr>
              <a:t>lever</a:t>
            </a:r>
            <a:r>
              <a:rPr dirty="0" sz="850" spc="-10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20" i="1">
                <a:solidFill>
                  <a:srgbClr val="6A7B86"/>
                </a:solidFill>
                <a:latin typeface="Verdana"/>
                <a:cs typeface="Verdana"/>
              </a:rPr>
              <a:t>is</a:t>
            </a:r>
            <a:r>
              <a:rPr dirty="0" sz="850" spc="-4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grounded</a:t>
            </a:r>
            <a:r>
              <a:rPr dirty="0" sz="850" spc="-7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in</a:t>
            </a:r>
            <a:r>
              <a:rPr dirty="0" sz="850" spc="-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 validated</a:t>
            </a:r>
            <a:r>
              <a:rPr dirty="0" sz="850" spc="-7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analysis</a:t>
            </a:r>
            <a:r>
              <a:rPr dirty="0" sz="850" spc="-4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40" i="1">
                <a:solidFill>
                  <a:srgbClr val="6A7B86"/>
                </a:solidFill>
                <a:latin typeface="Verdana"/>
                <a:cs typeface="Verdana"/>
              </a:rPr>
              <a:t>(Blocks </a:t>
            </a:r>
            <a:r>
              <a:rPr dirty="0" sz="850" spc="-130" i="1">
                <a:solidFill>
                  <a:srgbClr val="6A7B86"/>
                </a:solidFill>
                <a:latin typeface="Verdana"/>
                <a:cs typeface="Verdana"/>
              </a:rPr>
              <a:t>1</a:t>
            </a:r>
            <a:r>
              <a:rPr dirty="0" sz="850" spc="8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20" i="1">
                <a:solidFill>
                  <a:srgbClr val="6A7B86"/>
                </a:solidFill>
                <a:latin typeface="Verdana"/>
                <a:cs typeface="Verdana"/>
              </a:rPr>
              <a:t>and</a:t>
            </a:r>
            <a:r>
              <a:rPr dirty="0" sz="850" spc="-7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3).</a:t>
            </a:r>
            <a:endParaRPr sz="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05713" y="1100074"/>
            <a:ext cx="3652520" cy="1229360"/>
            <a:chOff x="505713" y="1100074"/>
            <a:chExt cx="3652520" cy="1229360"/>
          </a:xfrm>
        </p:grpSpPr>
        <p:sp>
          <p:nvSpPr>
            <p:cNvPr id="3" name="object 3"/>
            <p:cNvSpPr/>
            <p:nvPr/>
          </p:nvSpPr>
          <p:spPr>
            <a:xfrm>
              <a:off x="512063" y="1106424"/>
              <a:ext cx="3639820" cy="1216660"/>
            </a:xfrm>
            <a:custGeom>
              <a:avLst/>
              <a:gdLst/>
              <a:ahLst/>
              <a:cxnLst/>
              <a:rect l="l" t="t" r="r" b="b"/>
              <a:pathLst>
                <a:path w="3639820" h="1216660">
                  <a:moveTo>
                    <a:pt x="3602736" y="0"/>
                  </a:moveTo>
                  <a:lnTo>
                    <a:pt x="36576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5" y="1195577"/>
                  </a:lnTo>
                  <a:lnTo>
                    <a:pt x="9143" y="1207007"/>
                  </a:lnTo>
                  <a:lnTo>
                    <a:pt x="20573" y="1213865"/>
                  </a:lnTo>
                  <a:lnTo>
                    <a:pt x="36576" y="1216152"/>
                  </a:lnTo>
                  <a:lnTo>
                    <a:pt x="3602736" y="1216152"/>
                  </a:lnTo>
                  <a:lnTo>
                    <a:pt x="3618738" y="1213865"/>
                  </a:lnTo>
                  <a:lnTo>
                    <a:pt x="3630167" y="1207007"/>
                  </a:lnTo>
                  <a:lnTo>
                    <a:pt x="3637026" y="1195577"/>
                  </a:lnTo>
                  <a:lnTo>
                    <a:pt x="3639312" y="1179576"/>
                  </a:lnTo>
                  <a:lnTo>
                    <a:pt x="3639312" y="36575"/>
                  </a:lnTo>
                  <a:lnTo>
                    <a:pt x="3637026" y="20574"/>
                  </a:lnTo>
                  <a:lnTo>
                    <a:pt x="3630167" y="9144"/>
                  </a:lnTo>
                  <a:lnTo>
                    <a:pt x="3618738" y="2286"/>
                  </a:lnTo>
                  <a:lnTo>
                    <a:pt x="3602736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12063" y="1106424"/>
              <a:ext cx="3639820" cy="1216660"/>
            </a:xfrm>
            <a:custGeom>
              <a:avLst/>
              <a:gdLst/>
              <a:ahLst/>
              <a:cxnLst/>
              <a:rect l="l" t="t" r="r" b="b"/>
              <a:pathLst>
                <a:path w="3639820" h="1216660">
                  <a:moveTo>
                    <a:pt x="36576" y="1216152"/>
                  </a:moveTo>
                  <a:lnTo>
                    <a:pt x="3602736" y="1216152"/>
                  </a:lnTo>
                  <a:lnTo>
                    <a:pt x="3618738" y="1213865"/>
                  </a:lnTo>
                  <a:lnTo>
                    <a:pt x="3630167" y="1207007"/>
                  </a:lnTo>
                  <a:lnTo>
                    <a:pt x="3637026" y="1195577"/>
                  </a:lnTo>
                  <a:lnTo>
                    <a:pt x="3639312" y="1179576"/>
                  </a:lnTo>
                  <a:lnTo>
                    <a:pt x="3639312" y="36575"/>
                  </a:lnTo>
                  <a:lnTo>
                    <a:pt x="3637026" y="20574"/>
                  </a:lnTo>
                  <a:lnTo>
                    <a:pt x="3630167" y="9144"/>
                  </a:lnTo>
                  <a:lnTo>
                    <a:pt x="3618738" y="2286"/>
                  </a:lnTo>
                  <a:lnTo>
                    <a:pt x="3602736" y="0"/>
                  </a:lnTo>
                  <a:lnTo>
                    <a:pt x="36576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5" y="1195577"/>
                  </a:lnTo>
                  <a:lnTo>
                    <a:pt x="9143" y="1207007"/>
                  </a:lnTo>
                  <a:lnTo>
                    <a:pt x="20573" y="1213865"/>
                  </a:lnTo>
                  <a:lnTo>
                    <a:pt x="36576" y="121615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8639" y="1143000"/>
              <a:ext cx="3566160" cy="36830"/>
            </a:xfrm>
            <a:custGeom>
              <a:avLst/>
              <a:gdLst/>
              <a:ahLst/>
              <a:cxnLst/>
              <a:rect l="l" t="t" r="r" b="b"/>
              <a:pathLst>
                <a:path w="3566160" h="36830">
                  <a:moveTo>
                    <a:pt x="356616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566160" y="36575"/>
                  </a:lnTo>
                  <a:lnTo>
                    <a:pt x="3566160" y="0"/>
                  </a:lnTo>
                  <a:close/>
                </a:path>
              </a:pathLst>
            </a:custGeom>
            <a:solidFill>
              <a:srgbClr val="E66E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8639" y="1143000"/>
              <a:ext cx="3566160" cy="36830"/>
            </a:xfrm>
            <a:custGeom>
              <a:avLst/>
              <a:gdLst/>
              <a:ahLst/>
              <a:cxnLst/>
              <a:rect l="l" t="t" r="r" b="b"/>
              <a:pathLst>
                <a:path w="3566160" h="36830">
                  <a:moveTo>
                    <a:pt x="0" y="36575"/>
                  </a:moveTo>
                  <a:lnTo>
                    <a:pt x="3566160" y="36575"/>
                  </a:lnTo>
                  <a:lnTo>
                    <a:pt x="356616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66E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4254753" y="1100074"/>
            <a:ext cx="3652520" cy="1229360"/>
            <a:chOff x="4254753" y="1100074"/>
            <a:chExt cx="3652520" cy="1229360"/>
          </a:xfrm>
        </p:grpSpPr>
        <p:sp>
          <p:nvSpPr>
            <p:cNvPr id="8" name="object 8"/>
            <p:cNvSpPr/>
            <p:nvPr/>
          </p:nvSpPr>
          <p:spPr>
            <a:xfrm>
              <a:off x="4261103" y="1106424"/>
              <a:ext cx="3639820" cy="1216660"/>
            </a:xfrm>
            <a:custGeom>
              <a:avLst/>
              <a:gdLst/>
              <a:ahLst/>
              <a:cxnLst/>
              <a:rect l="l" t="t" r="r" b="b"/>
              <a:pathLst>
                <a:path w="3639820" h="1216660">
                  <a:moveTo>
                    <a:pt x="3602736" y="0"/>
                  </a:move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6" y="1195577"/>
                  </a:lnTo>
                  <a:lnTo>
                    <a:pt x="9144" y="1207007"/>
                  </a:lnTo>
                  <a:lnTo>
                    <a:pt x="20574" y="1213865"/>
                  </a:lnTo>
                  <a:lnTo>
                    <a:pt x="36575" y="1216152"/>
                  </a:lnTo>
                  <a:lnTo>
                    <a:pt x="3602736" y="1216152"/>
                  </a:lnTo>
                  <a:lnTo>
                    <a:pt x="3618738" y="1213865"/>
                  </a:lnTo>
                  <a:lnTo>
                    <a:pt x="3630168" y="1207007"/>
                  </a:lnTo>
                  <a:lnTo>
                    <a:pt x="3637026" y="1195577"/>
                  </a:lnTo>
                  <a:lnTo>
                    <a:pt x="3639312" y="1179576"/>
                  </a:lnTo>
                  <a:lnTo>
                    <a:pt x="3639312" y="36575"/>
                  </a:lnTo>
                  <a:lnTo>
                    <a:pt x="3637026" y="20574"/>
                  </a:lnTo>
                  <a:lnTo>
                    <a:pt x="3630168" y="9144"/>
                  </a:lnTo>
                  <a:lnTo>
                    <a:pt x="3618738" y="2286"/>
                  </a:lnTo>
                  <a:lnTo>
                    <a:pt x="3602736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4261103" y="1106424"/>
              <a:ext cx="3639820" cy="1216660"/>
            </a:xfrm>
            <a:custGeom>
              <a:avLst/>
              <a:gdLst/>
              <a:ahLst/>
              <a:cxnLst/>
              <a:rect l="l" t="t" r="r" b="b"/>
              <a:pathLst>
                <a:path w="3639820" h="1216660">
                  <a:moveTo>
                    <a:pt x="36575" y="1216152"/>
                  </a:moveTo>
                  <a:lnTo>
                    <a:pt x="3602736" y="1216152"/>
                  </a:lnTo>
                  <a:lnTo>
                    <a:pt x="3618738" y="1213865"/>
                  </a:lnTo>
                  <a:lnTo>
                    <a:pt x="3630168" y="1207007"/>
                  </a:lnTo>
                  <a:lnTo>
                    <a:pt x="3637026" y="1195577"/>
                  </a:lnTo>
                  <a:lnTo>
                    <a:pt x="3639312" y="1179576"/>
                  </a:lnTo>
                  <a:lnTo>
                    <a:pt x="3639312" y="36575"/>
                  </a:lnTo>
                  <a:lnTo>
                    <a:pt x="3637026" y="20574"/>
                  </a:lnTo>
                  <a:lnTo>
                    <a:pt x="3630168" y="9144"/>
                  </a:lnTo>
                  <a:lnTo>
                    <a:pt x="3618738" y="2286"/>
                  </a:lnTo>
                  <a:lnTo>
                    <a:pt x="3602736" y="0"/>
                  </a:ln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6" y="1195577"/>
                  </a:lnTo>
                  <a:lnTo>
                    <a:pt x="9144" y="1207007"/>
                  </a:lnTo>
                  <a:lnTo>
                    <a:pt x="20574" y="1213865"/>
                  </a:lnTo>
                  <a:lnTo>
                    <a:pt x="36575" y="121615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297679" y="1143000"/>
              <a:ext cx="3566160" cy="36830"/>
            </a:xfrm>
            <a:custGeom>
              <a:avLst/>
              <a:gdLst/>
              <a:ahLst/>
              <a:cxnLst/>
              <a:rect l="l" t="t" r="r" b="b"/>
              <a:pathLst>
                <a:path w="3566159" h="36830">
                  <a:moveTo>
                    <a:pt x="356616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566160" y="36575"/>
                  </a:lnTo>
                  <a:lnTo>
                    <a:pt x="3566160" y="0"/>
                  </a:lnTo>
                  <a:close/>
                </a:path>
              </a:pathLst>
            </a:custGeom>
            <a:solidFill>
              <a:srgbClr val="E66E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297679" y="1143000"/>
              <a:ext cx="3566160" cy="36830"/>
            </a:xfrm>
            <a:custGeom>
              <a:avLst/>
              <a:gdLst/>
              <a:ahLst/>
              <a:cxnLst/>
              <a:rect l="l" t="t" r="r" b="b"/>
              <a:pathLst>
                <a:path w="3566159" h="36830">
                  <a:moveTo>
                    <a:pt x="0" y="36575"/>
                  </a:moveTo>
                  <a:lnTo>
                    <a:pt x="3566160" y="36575"/>
                  </a:lnTo>
                  <a:lnTo>
                    <a:pt x="356616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66E5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8003793" y="1100074"/>
            <a:ext cx="3652520" cy="1229360"/>
            <a:chOff x="8003793" y="1100074"/>
            <a:chExt cx="3652520" cy="1229360"/>
          </a:xfrm>
        </p:grpSpPr>
        <p:sp>
          <p:nvSpPr>
            <p:cNvPr id="13" name="object 13"/>
            <p:cNvSpPr/>
            <p:nvPr/>
          </p:nvSpPr>
          <p:spPr>
            <a:xfrm>
              <a:off x="8010143" y="1106424"/>
              <a:ext cx="3639820" cy="1216660"/>
            </a:xfrm>
            <a:custGeom>
              <a:avLst/>
              <a:gdLst/>
              <a:ahLst/>
              <a:cxnLst/>
              <a:rect l="l" t="t" r="r" b="b"/>
              <a:pathLst>
                <a:path w="3639820" h="1216660">
                  <a:moveTo>
                    <a:pt x="3602735" y="0"/>
                  </a:move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5" y="1195577"/>
                  </a:lnTo>
                  <a:lnTo>
                    <a:pt x="9143" y="1207007"/>
                  </a:lnTo>
                  <a:lnTo>
                    <a:pt x="20573" y="1213865"/>
                  </a:lnTo>
                  <a:lnTo>
                    <a:pt x="36575" y="1216152"/>
                  </a:lnTo>
                  <a:lnTo>
                    <a:pt x="3602735" y="1216152"/>
                  </a:lnTo>
                  <a:lnTo>
                    <a:pt x="3618737" y="1213865"/>
                  </a:lnTo>
                  <a:lnTo>
                    <a:pt x="3630167" y="1207007"/>
                  </a:lnTo>
                  <a:lnTo>
                    <a:pt x="3637025" y="1195577"/>
                  </a:lnTo>
                  <a:lnTo>
                    <a:pt x="3639311" y="1179576"/>
                  </a:lnTo>
                  <a:lnTo>
                    <a:pt x="3639311" y="36575"/>
                  </a:lnTo>
                  <a:lnTo>
                    <a:pt x="3637026" y="20574"/>
                  </a:lnTo>
                  <a:lnTo>
                    <a:pt x="3630168" y="9144"/>
                  </a:lnTo>
                  <a:lnTo>
                    <a:pt x="3618738" y="2286"/>
                  </a:lnTo>
                  <a:lnTo>
                    <a:pt x="3602735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010143" y="1106424"/>
              <a:ext cx="3639820" cy="1216660"/>
            </a:xfrm>
            <a:custGeom>
              <a:avLst/>
              <a:gdLst/>
              <a:ahLst/>
              <a:cxnLst/>
              <a:rect l="l" t="t" r="r" b="b"/>
              <a:pathLst>
                <a:path w="3639820" h="1216660">
                  <a:moveTo>
                    <a:pt x="36575" y="1216152"/>
                  </a:moveTo>
                  <a:lnTo>
                    <a:pt x="3602735" y="1216152"/>
                  </a:lnTo>
                  <a:lnTo>
                    <a:pt x="3618737" y="1213865"/>
                  </a:lnTo>
                  <a:lnTo>
                    <a:pt x="3630167" y="1207007"/>
                  </a:lnTo>
                  <a:lnTo>
                    <a:pt x="3637025" y="1195577"/>
                  </a:lnTo>
                  <a:lnTo>
                    <a:pt x="3639311" y="1179576"/>
                  </a:lnTo>
                  <a:lnTo>
                    <a:pt x="3639311" y="36575"/>
                  </a:lnTo>
                  <a:lnTo>
                    <a:pt x="3637026" y="20574"/>
                  </a:lnTo>
                  <a:lnTo>
                    <a:pt x="3630168" y="9144"/>
                  </a:lnTo>
                  <a:lnTo>
                    <a:pt x="3618738" y="2286"/>
                  </a:lnTo>
                  <a:lnTo>
                    <a:pt x="3602735" y="0"/>
                  </a:lnTo>
                  <a:lnTo>
                    <a:pt x="36575" y="0"/>
                  </a:lnTo>
                  <a:lnTo>
                    <a:pt x="20574" y="2286"/>
                  </a:lnTo>
                  <a:lnTo>
                    <a:pt x="9144" y="9144"/>
                  </a:lnTo>
                  <a:lnTo>
                    <a:pt x="2286" y="20574"/>
                  </a:lnTo>
                  <a:lnTo>
                    <a:pt x="0" y="36575"/>
                  </a:lnTo>
                  <a:lnTo>
                    <a:pt x="0" y="1179576"/>
                  </a:lnTo>
                  <a:lnTo>
                    <a:pt x="2285" y="1195577"/>
                  </a:lnTo>
                  <a:lnTo>
                    <a:pt x="9143" y="1207007"/>
                  </a:lnTo>
                  <a:lnTo>
                    <a:pt x="20573" y="1213865"/>
                  </a:lnTo>
                  <a:lnTo>
                    <a:pt x="36575" y="121615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8046719" y="1143000"/>
              <a:ext cx="3566160" cy="36830"/>
            </a:xfrm>
            <a:custGeom>
              <a:avLst/>
              <a:gdLst/>
              <a:ahLst/>
              <a:cxnLst/>
              <a:rect l="l" t="t" r="r" b="b"/>
              <a:pathLst>
                <a:path w="3566159" h="36830">
                  <a:moveTo>
                    <a:pt x="3566159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566159" y="36575"/>
                  </a:lnTo>
                  <a:lnTo>
                    <a:pt x="3566159" y="0"/>
                  </a:lnTo>
                  <a:close/>
                </a:path>
              </a:pathLst>
            </a:custGeom>
            <a:solidFill>
              <a:srgbClr val="E9C4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8046719" y="1143000"/>
              <a:ext cx="3566160" cy="36830"/>
            </a:xfrm>
            <a:custGeom>
              <a:avLst/>
              <a:gdLst/>
              <a:ahLst/>
              <a:cxnLst/>
              <a:rect l="l" t="t" r="r" b="b"/>
              <a:pathLst>
                <a:path w="3566159" h="36830">
                  <a:moveTo>
                    <a:pt x="0" y="36575"/>
                  </a:moveTo>
                  <a:lnTo>
                    <a:pt x="3566159" y="36575"/>
                  </a:lnTo>
                  <a:lnTo>
                    <a:pt x="3566159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9C46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-6350" y="706881"/>
            <a:ext cx="12202160" cy="49530"/>
            <a:chOff x="-6350" y="706881"/>
            <a:chExt cx="12202160" cy="49530"/>
          </a:xfrm>
        </p:grpSpPr>
        <p:sp>
          <p:nvSpPr>
            <p:cNvPr id="18" name="object 18"/>
            <p:cNvSpPr/>
            <p:nvPr/>
          </p:nvSpPr>
          <p:spPr>
            <a:xfrm>
              <a:off x="0" y="713231"/>
              <a:ext cx="12189460" cy="36830"/>
            </a:xfrm>
            <a:custGeom>
              <a:avLst/>
              <a:gdLst/>
              <a:ahLst/>
              <a:cxnLst/>
              <a:rect l="l" t="t" r="r" b="b"/>
              <a:pathLst>
                <a:path w="12189460" h="36829">
                  <a:moveTo>
                    <a:pt x="12188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12188952" y="3657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0" y="713231"/>
              <a:ext cx="12189460" cy="36830"/>
            </a:xfrm>
            <a:custGeom>
              <a:avLst/>
              <a:gdLst/>
              <a:ahLst/>
              <a:cxnLst/>
              <a:rect l="l" t="t" r="r" b="b"/>
              <a:pathLst>
                <a:path w="12189460" h="36829">
                  <a:moveTo>
                    <a:pt x="0" y="36575"/>
                  </a:moveTo>
                  <a:lnTo>
                    <a:pt x="12188952" y="36575"/>
                  </a:lnTo>
                  <a:lnTo>
                    <a:pt x="12188952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699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35940" y="78473"/>
            <a:ext cx="2195830" cy="54229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ts val="1290"/>
              </a:lnSpc>
              <a:spcBef>
                <a:spcPts val="90"/>
              </a:spcBef>
            </a:pPr>
            <a:r>
              <a:rPr dirty="0" sz="1150" spc="-140">
                <a:solidFill>
                  <a:srgbClr val="E9C469"/>
                </a:solidFill>
                <a:latin typeface="Arial Black"/>
                <a:cs typeface="Arial Black"/>
              </a:rPr>
              <a:t>RISKS</a:t>
            </a:r>
            <a:r>
              <a:rPr dirty="0" sz="1150" spc="5">
                <a:solidFill>
                  <a:srgbClr val="E9C469"/>
                </a:solidFill>
                <a:latin typeface="Arial Black"/>
                <a:cs typeface="Arial Black"/>
              </a:rPr>
              <a:t> </a:t>
            </a:r>
            <a:r>
              <a:rPr dirty="0" sz="1150" spc="-130">
                <a:solidFill>
                  <a:srgbClr val="E9C469"/>
                </a:solidFill>
                <a:latin typeface="Arial Black"/>
                <a:cs typeface="Arial Black"/>
              </a:rPr>
              <a:t>&amp;</a:t>
            </a:r>
            <a:r>
              <a:rPr dirty="0" sz="1150" spc="-55">
                <a:solidFill>
                  <a:srgbClr val="E9C469"/>
                </a:solidFill>
                <a:latin typeface="Arial Black"/>
                <a:cs typeface="Arial Black"/>
              </a:rPr>
              <a:t> </a:t>
            </a:r>
            <a:r>
              <a:rPr dirty="0" sz="1150" spc="-25">
                <a:solidFill>
                  <a:srgbClr val="E9C469"/>
                </a:solidFill>
                <a:latin typeface="Arial Black"/>
                <a:cs typeface="Arial Black"/>
              </a:rPr>
              <a:t>CAVEATS</a:t>
            </a:r>
            <a:endParaRPr sz="1150">
              <a:latin typeface="Arial Black"/>
              <a:cs typeface="Arial Black"/>
            </a:endParaRPr>
          </a:p>
          <a:p>
            <a:pPr marL="12700">
              <a:lnSpc>
                <a:spcPts val="2790"/>
              </a:lnSpc>
            </a:pPr>
            <a:r>
              <a:rPr dirty="0" sz="2400" spc="-225" b="1">
                <a:solidFill>
                  <a:srgbClr val="F7F4ED"/>
                </a:solidFill>
                <a:latin typeface="Verdana"/>
                <a:cs typeface="Verdana"/>
              </a:rPr>
              <a:t>What</a:t>
            </a:r>
            <a:r>
              <a:rPr dirty="0" sz="2400" spc="-150" b="1">
                <a:solidFill>
                  <a:srgbClr val="F7F4ED"/>
                </a:solidFill>
                <a:latin typeface="Verdana"/>
                <a:cs typeface="Verdana"/>
              </a:rPr>
              <a:t> </a:t>
            </a:r>
            <a:r>
              <a:rPr dirty="0" sz="2400" spc="-185" b="1">
                <a:solidFill>
                  <a:srgbClr val="F7F4ED"/>
                </a:solidFill>
                <a:latin typeface="Verdana"/>
                <a:cs typeface="Verdana"/>
              </a:rPr>
              <a:t>to</a:t>
            </a:r>
            <a:r>
              <a:rPr dirty="0" sz="2400" spc="-105" b="1">
                <a:solidFill>
                  <a:srgbClr val="F7F4ED"/>
                </a:solidFill>
                <a:latin typeface="Verdana"/>
                <a:cs typeface="Verdana"/>
              </a:rPr>
              <a:t> </a:t>
            </a:r>
            <a:r>
              <a:rPr dirty="0" sz="2400" spc="-210" b="1">
                <a:solidFill>
                  <a:srgbClr val="F7F4ED"/>
                </a:solidFill>
                <a:latin typeface="Verdana"/>
                <a:cs typeface="Verdana"/>
              </a:rPr>
              <a:t>watch</a:t>
            </a:r>
            <a:endParaRPr sz="2400">
              <a:latin typeface="Verdana"/>
              <a:cs typeface="Verdana"/>
            </a:endParaRPr>
          </a:p>
        </p:txBody>
      </p:sp>
      <p:sp>
        <p:nvSpPr>
          <p:cNvPr id="21" name="object 21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200"/>
              <a:t>and</a:t>
            </a:r>
            <a:r>
              <a:rPr dirty="0" spc="-155"/>
              <a:t> </a:t>
            </a:r>
            <a:r>
              <a:rPr dirty="0" spc="-265"/>
              <a:t>what</a:t>
            </a:r>
            <a:r>
              <a:rPr dirty="0" spc="-145"/>
              <a:t> </a:t>
            </a:r>
            <a:r>
              <a:rPr dirty="0" spc="-210"/>
              <a:t>the</a:t>
            </a:r>
            <a:r>
              <a:rPr dirty="0" spc="-90"/>
              <a:t> </a:t>
            </a:r>
            <a:r>
              <a:rPr dirty="0" spc="-200"/>
              <a:t>data</a:t>
            </a:r>
            <a:r>
              <a:rPr dirty="0" spc="-140"/>
              <a:t> </a:t>
            </a:r>
            <a:r>
              <a:rPr dirty="0" spc="-200"/>
              <a:t>cannot</a:t>
            </a:r>
            <a:r>
              <a:rPr dirty="0" spc="-145"/>
              <a:t> </a:t>
            </a:r>
            <a:r>
              <a:rPr dirty="0" spc="-235"/>
              <a:t>yet</a:t>
            </a:r>
            <a:r>
              <a:rPr dirty="0" spc="-145"/>
              <a:t> </a:t>
            </a:r>
            <a:r>
              <a:rPr dirty="0" spc="-110"/>
              <a:t>tell</a:t>
            </a:r>
            <a:r>
              <a:rPr dirty="0" spc="-80"/>
              <a:t> </a:t>
            </a:r>
            <a:r>
              <a:rPr dirty="0" spc="-35"/>
              <a:t>us</a:t>
            </a:r>
          </a:p>
        </p:txBody>
      </p:sp>
      <p:sp>
        <p:nvSpPr>
          <p:cNvPr id="22" name="object 22"/>
          <p:cNvSpPr/>
          <p:nvPr/>
        </p:nvSpPr>
        <p:spPr>
          <a:xfrm>
            <a:off x="2906824" y="460713"/>
            <a:ext cx="238125" cy="31750"/>
          </a:xfrm>
          <a:custGeom>
            <a:avLst/>
            <a:gdLst/>
            <a:ahLst/>
            <a:cxnLst/>
            <a:rect l="l" t="t" r="r" b="b"/>
            <a:pathLst>
              <a:path w="238125" h="31750">
                <a:moveTo>
                  <a:pt x="237896" y="0"/>
                </a:moveTo>
                <a:lnTo>
                  <a:pt x="0" y="0"/>
                </a:lnTo>
                <a:lnTo>
                  <a:pt x="0" y="31203"/>
                </a:lnTo>
                <a:lnTo>
                  <a:pt x="237896" y="31203"/>
                </a:lnTo>
                <a:lnTo>
                  <a:pt x="237896" y="0"/>
                </a:lnTo>
                <a:close/>
              </a:path>
            </a:pathLst>
          </a:custGeom>
          <a:solidFill>
            <a:srgbClr val="F7F4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1375349" y="277855"/>
            <a:ext cx="24511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35">
                <a:solidFill>
                  <a:srgbClr val="7C92A3"/>
                </a:solidFill>
                <a:latin typeface="Verdana"/>
                <a:cs typeface="Verdana"/>
              </a:rPr>
              <a:t>4/5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18413" y="1285098"/>
            <a:ext cx="3627120" cy="783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105"/>
              </a:spcBef>
            </a:pPr>
            <a:r>
              <a:rPr dirty="0" sz="2850" spc="-10" b="1">
                <a:solidFill>
                  <a:srgbClr val="E66E50"/>
                </a:solidFill>
                <a:latin typeface="Verdana"/>
                <a:cs typeface="Verdana"/>
              </a:rPr>
              <a:t>$7.3M</a:t>
            </a:r>
            <a:endParaRPr sz="2850">
              <a:latin typeface="Verdana"/>
              <a:cs typeface="Verdana"/>
            </a:endParaRPr>
          </a:p>
          <a:p>
            <a:pPr marL="258445">
              <a:lnSpc>
                <a:spcPct val="100000"/>
              </a:lnSpc>
              <a:spcBef>
                <a:spcPts val="1275"/>
              </a:spcBef>
            </a:pPr>
            <a:r>
              <a:rPr dirty="0" sz="1050" spc="-65">
                <a:solidFill>
                  <a:srgbClr val="6A7B86"/>
                </a:solidFill>
                <a:latin typeface="Verdana"/>
                <a:cs typeface="Verdana"/>
              </a:rPr>
              <a:t>GMV</a:t>
            </a:r>
            <a:r>
              <a:rPr dirty="0" sz="1050" spc="-114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6A7B86"/>
                </a:solidFill>
                <a:latin typeface="Verdana"/>
                <a:cs typeface="Verdana"/>
              </a:rPr>
              <a:t>at</a:t>
            </a:r>
            <a:r>
              <a:rPr dirty="0" sz="105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6A7B86"/>
                </a:solidFill>
                <a:latin typeface="Verdana"/>
                <a:cs typeface="Verdana"/>
              </a:rPr>
              <a:t>risk</a:t>
            </a:r>
            <a:r>
              <a:rPr dirty="0" sz="1050" spc="-10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170">
                <a:solidFill>
                  <a:srgbClr val="6A7B86"/>
                </a:solidFill>
                <a:latin typeface="Verdana"/>
                <a:cs typeface="Verdana"/>
              </a:rPr>
              <a:t>-</a:t>
            </a:r>
            <a:r>
              <a:rPr dirty="0" sz="1050" spc="-3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80">
                <a:solidFill>
                  <a:srgbClr val="6A7B86"/>
                </a:solidFill>
                <a:latin typeface="Verdana"/>
                <a:cs typeface="Verdana"/>
              </a:rPr>
              <a:t>and</a:t>
            </a:r>
            <a:r>
              <a:rPr dirty="0" sz="105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30">
                <a:solidFill>
                  <a:srgbClr val="6A7B86"/>
                </a:solidFill>
                <a:latin typeface="Verdana"/>
                <a:cs typeface="Verdana"/>
              </a:rPr>
              <a:t>it</a:t>
            </a:r>
            <a:r>
              <a:rPr dirty="0" sz="105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6A7B86"/>
                </a:solidFill>
                <a:latin typeface="Verdana"/>
                <a:cs typeface="Verdana"/>
              </a:rPr>
              <a:t>is</a:t>
            </a:r>
            <a:r>
              <a:rPr dirty="0" sz="1050" spc="-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100">
                <a:solidFill>
                  <a:srgbClr val="6A7B86"/>
                </a:solidFill>
                <a:latin typeface="Verdana"/>
                <a:cs typeface="Verdana"/>
              </a:rPr>
              <a:t>a</a:t>
            </a:r>
            <a:r>
              <a:rPr dirty="0" sz="1050" spc="-10">
                <a:solidFill>
                  <a:srgbClr val="6A7B86"/>
                </a:solidFill>
                <a:latin typeface="Verdana"/>
                <a:cs typeface="Verdana"/>
              </a:rPr>
              <a:t> ceiling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67453" y="1285098"/>
            <a:ext cx="3627120" cy="783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105"/>
              </a:spcBef>
            </a:pPr>
            <a:r>
              <a:rPr dirty="0" sz="2850" spc="-585" b="1">
                <a:solidFill>
                  <a:srgbClr val="E66E50"/>
                </a:solidFill>
                <a:latin typeface="Verdana"/>
                <a:cs typeface="Verdana"/>
              </a:rPr>
              <a:t>76%</a:t>
            </a:r>
            <a:endParaRPr sz="2850">
              <a:latin typeface="Verdana"/>
              <a:cs typeface="Verdana"/>
            </a:endParaRPr>
          </a:p>
          <a:p>
            <a:pPr marL="258445">
              <a:lnSpc>
                <a:spcPct val="100000"/>
              </a:lnSpc>
              <a:spcBef>
                <a:spcPts val="1275"/>
              </a:spcBef>
            </a:pPr>
            <a:r>
              <a:rPr dirty="0" sz="1050" spc="-35">
                <a:solidFill>
                  <a:srgbClr val="6A7B86"/>
                </a:solidFill>
                <a:latin typeface="Verdana"/>
                <a:cs typeface="Verdana"/>
              </a:rPr>
              <a:t>of</a:t>
            </a:r>
            <a:r>
              <a:rPr dirty="0" sz="1050" spc="-10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6A7B86"/>
                </a:solidFill>
                <a:latin typeface="Verdana"/>
                <a:cs typeface="Verdana"/>
              </a:rPr>
              <a:t>that</a:t>
            </a:r>
            <a:r>
              <a:rPr dirty="0" sz="105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0">
                <a:solidFill>
                  <a:srgbClr val="6A7B86"/>
                </a:solidFill>
                <a:latin typeface="Verdana"/>
                <a:cs typeface="Verdana"/>
              </a:rPr>
              <a:t>risk</a:t>
            </a:r>
            <a:r>
              <a:rPr dirty="0" sz="1050" spc="-9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65">
                <a:solidFill>
                  <a:srgbClr val="6A7B86"/>
                </a:solidFill>
                <a:latin typeface="Verdana"/>
                <a:cs typeface="Verdana"/>
              </a:rPr>
              <a:t>in</a:t>
            </a:r>
            <a:r>
              <a:rPr dirty="0" sz="1050" spc="-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6A7B86"/>
                </a:solidFill>
                <a:latin typeface="Verdana"/>
                <a:cs typeface="Verdana"/>
              </a:rPr>
              <a:t>Electronics</a:t>
            </a:r>
            <a:r>
              <a:rPr dirty="0" sz="1050" spc="-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110">
                <a:solidFill>
                  <a:srgbClr val="6A7B86"/>
                </a:solidFill>
                <a:latin typeface="Verdana"/>
                <a:cs typeface="Verdana"/>
              </a:rPr>
              <a:t>+</a:t>
            </a:r>
            <a:r>
              <a:rPr dirty="0" sz="1050" spc="-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20">
                <a:solidFill>
                  <a:srgbClr val="6A7B86"/>
                </a:solidFill>
                <a:latin typeface="Verdana"/>
                <a:cs typeface="Verdana"/>
              </a:rPr>
              <a:t>Home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16493" y="1285098"/>
            <a:ext cx="3627120" cy="783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105"/>
              </a:spcBef>
            </a:pPr>
            <a:r>
              <a:rPr dirty="0" sz="2850" spc="-720" b="1">
                <a:solidFill>
                  <a:srgbClr val="E9C469"/>
                </a:solidFill>
                <a:latin typeface="Verdana"/>
                <a:cs typeface="Verdana"/>
              </a:rPr>
              <a:t>1%</a:t>
            </a:r>
            <a:endParaRPr sz="2850">
              <a:latin typeface="Verdana"/>
              <a:cs typeface="Verdana"/>
            </a:endParaRPr>
          </a:p>
          <a:p>
            <a:pPr marL="258445">
              <a:lnSpc>
                <a:spcPct val="100000"/>
              </a:lnSpc>
              <a:spcBef>
                <a:spcPts val="1275"/>
              </a:spcBef>
            </a:pPr>
            <a:r>
              <a:rPr dirty="0" sz="1050" spc="-35">
                <a:solidFill>
                  <a:srgbClr val="6A7B86"/>
                </a:solidFill>
                <a:latin typeface="Verdana"/>
                <a:cs typeface="Verdana"/>
              </a:rPr>
              <a:t>of</a:t>
            </a:r>
            <a:r>
              <a:rPr dirty="0" sz="1050" spc="-10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6A7B86"/>
                </a:solidFill>
                <a:latin typeface="Verdana"/>
                <a:cs typeface="Verdana"/>
              </a:rPr>
              <a:t>tickets</a:t>
            </a:r>
            <a:r>
              <a:rPr dirty="0" sz="1050" spc="-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60">
                <a:solidFill>
                  <a:srgbClr val="6A7B86"/>
                </a:solidFill>
                <a:latin typeface="Verdana"/>
                <a:cs typeface="Verdana"/>
              </a:rPr>
              <a:t>carry</a:t>
            </a:r>
            <a:r>
              <a:rPr dirty="0" sz="1050" spc="-7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85">
                <a:solidFill>
                  <a:srgbClr val="6A7B86"/>
                </a:solidFill>
                <a:latin typeface="Verdana"/>
                <a:cs typeface="Verdana"/>
              </a:rPr>
              <a:t>an</a:t>
            </a:r>
            <a:r>
              <a:rPr dirty="0" sz="1050" spc="-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55">
                <a:solidFill>
                  <a:srgbClr val="6A7B86"/>
                </a:solidFill>
                <a:latin typeface="Verdana"/>
                <a:cs typeface="Verdana"/>
              </a:rPr>
              <a:t>unreconciled</a:t>
            </a:r>
            <a:r>
              <a:rPr dirty="0" sz="1050" spc="-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050" spc="-10">
                <a:solidFill>
                  <a:srgbClr val="6A7B86"/>
                </a:solidFill>
                <a:latin typeface="Verdana"/>
                <a:cs typeface="Verdana"/>
              </a:rPr>
              <a:t>discount</a:t>
            </a:r>
            <a:endParaRPr sz="105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5940" y="2718084"/>
            <a:ext cx="14668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10">
                <a:solidFill>
                  <a:srgbClr val="2A9C8E"/>
                </a:solidFill>
                <a:latin typeface="Arial Black"/>
                <a:cs typeface="Arial Black"/>
              </a:rPr>
              <a:t>&gt;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55980" y="2662907"/>
            <a:ext cx="9316720" cy="53149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Stock-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outs:</a:t>
            </a:r>
            <a:r>
              <a:rPr dirty="0" sz="1400" spc="7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2283D"/>
                </a:solidFill>
                <a:latin typeface="Arial Black"/>
                <a:cs typeface="Arial Black"/>
              </a:rPr>
              <a:t>demand</a:t>
            </a:r>
            <a:r>
              <a:rPr dirty="0" sz="1400" spc="-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vs</a:t>
            </a: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supply</a:t>
            </a: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is</a:t>
            </a: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unknowable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today.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35">
                <a:solidFill>
                  <a:srgbClr val="6A7B86"/>
                </a:solidFill>
                <a:latin typeface="Verdana"/>
                <a:cs typeface="Verdana"/>
              </a:rPr>
              <a:t>$7.</a:t>
            </a:r>
            <a:r>
              <a:rPr dirty="0" sz="1200" spc="-3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25">
                <a:solidFill>
                  <a:srgbClr val="6A7B86"/>
                </a:solidFill>
                <a:latin typeface="Verdana"/>
                <a:cs typeface="Verdana"/>
              </a:rPr>
              <a:t>3M</a:t>
            </a:r>
            <a:r>
              <a:rPr dirty="0" sz="1200" spc="-2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is</a:t>
            </a:r>
            <a:r>
              <a:rPr dirty="0" sz="120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20">
                <a:solidFill>
                  <a:srgbClr val="6A7B86"/>
                </a:solidFill>
                <a:latin typeface="Verdana"/>
                <a:cs typeface="Verdana"/>
              </a:rPr>
              <a:t>an</a:t>
            </a:r>
            <a:r>
              <a:rPr dirty="0" sz="120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upper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6A7B86"/>
                </a:solidFill>
                <a:latin typeface="Verdana"/>
                <a:cs typeface="Verdana"/>
              </a:rPr>
              <a:t>bound.</a:t>
            </a:r>
            <a:r>
              <a:rPr dirty="0" sz="1200" spc="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Sales</a:t>
            </a:r>
            <a:r>
              <a:rPr dirty="0" sz="120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data</a:t>
            </a:r>
            <a:r>
              <a:rPr dirty="0" sz="1200" spc="-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alone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cannot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separate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30">
                <a:solidFill>
                  <a:srgbClr val="6A7B86"/>
                </a:solidFill>
                <a:latin typeface="Verdana"/>
                <a:cs typeface="Verdana"/>
              </a:rPr>
              <a:t>a</a:t>
            </a:r>
            <a:r>
              <a:rPr dirty="0" sz="120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true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5">
                <a:solidFill>
                  <a:srgbClr val="6A7B86"/>
                </a:solidFill>
                <a:latin typeface="Verdana"/>
                <a:cs typeface="Verdana"/>
              </a:rPr>
              <a:t>stock-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out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5">
                <a:solidFill>
                  <a:srgbClr val="6A7B86"/>
                </a:solidFill>
                <a:latin typeface="Verdana"/>
                <a:cs typeface="Verdana"/>
              </a:rPr>
              <a:t>from</a:t>
            </a:r>
            <a:r>
              <a:rPr dirty="0" sz="120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6A7B86"/>
                </a:solidFill>
                <a:latin typeface="Verdana"/>
                <a:cs typeface="Verdana"/>
              </a:rPr>
              <a:t>normal</a:t>
            </a:r>
            <a:r>
              <a:rPr dirty="0" sz="1200" spc="4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0">
                <a:solidFill>
                  <a:srgbClr val="6A7B86"/>
                </a:solidFill>
                <a:latin typeface="Verdana"/>
                <a:cs typeface="Verdana"/>
              </a:rPr>
              <a:t>demand</a:t>
            </a:r>
            <a:r>
              <a:rPr dirty="0" sz="1200" spc="-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variability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200">
                <a:solidFill>
                  <a:srgbClr val="6A7B86"/>
                </a:solidFill>
                <a:latin typeface="Verdana"/>
                <a:cs typeface="Verdana"/>
              </a:rPr>
              <a:t>-</a:t>
            </a:r>
            <a:r>
              <a:rPr dirty="0" sz="1200" spc="-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0">
                <a:solidFill>
                  <a:srgbClr val="6A7B86"/>
                </a:solidFill>
                <a:latin typeface="Verdana"/>
                <a:cs typeface="Verdana"/>
              </a:rPr>
              <a:t>we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need</a:t>
            </a:r>
            <a:r>
              <a:rPr dirty="0" sz="1200" spc="-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inventory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30">
                <a:solidFill>
                  <a:srgbClr val="6A7B86"/>
                </a:solidFill>
                <a:latin typeface="Verdana"/>
                <a:cs typeface="Verdana"/>
              </a:rPr>
              <a:t>data.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5940" y="3531587"/>
            <a:ext cx="9114790" cy="53149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580"/>
              </a:spcBef>
              <a:buClr>
                <a:srgbClr val="2A9C8E"/>
              </a:buClr>
              <a:buSzPct val="96428"/>
              <a:buChar char="&gt;"/>
              <a:tabLst>
                <a:tab pos="332105" algn="l"/>
              </a:tabLst>
            </a:pPr>
            <a:r>
              <a:rPr dirty="0" sz="1400" spc="-75">
                <a:solidFill>
                  <a:srgbClr val="12283D"/>
                </a:solidFill>
                <a:latin typeface="Arial Black"/>
                <a:cs typeface="Arial Black"/>
              </a:rPr>
              <a:t>Data</a:t>
            </a:r>
            <a:r>
              <a:rPr dirty="0" sz="1400" spc="-45">
                <a:solidFill>
                  <a:srgbClr val="12283D"/>
                </a:solidFill>
                <a:latin typeface="Arial Black"/>
                <a:cs typeface="Arial Black"/>
              </a:rPr>
              <a:t> quality:</a:t>
            </a:r>
            <a:r>
              <a:rPr dirty="0" sz="1400" spc="5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40">
                <a:solidFill>
                  <a:srgbClr val="12283D"/>
                </a:solidFill>
                <a:latin typeface="Arial Black"/>
                <a:cs typeface="Arial Black"/>
              </a:rPr>
              <a:t>a</a:t>
            </a:r>
            <a:r>
              <a:rPr dirty="0" sz="1400" spc="-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header-</a:t>
            </a:r>
            <a:r>
              <a:rPr dirty="0" sz="1400" spc="-65">
                <a:solidFill>
                  <a:srgbClr val="12283D"/>
                </a:solidFill>
                <a:latin typeface="Arial Black"/>
                <a:cs typeface="Arial Black"/>
              </a:rPr>
              <a:t>level</a:t>
            </a:r>
            <a:r>
              <a:rPr dirty="0" sz="1400" spc="3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discount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2283D"/>
                </a:solidFill>
                <a:latin typeface="Arial Black"/>
                <a:cs typeface="Arial Black"/>
              </a:rPr>
              <a:t>gap.</a:t>
            </a:r>
            <a:endParaRPr sz="1400">
              <a:latin typeface="Arial Black"/>
              <a:cs typeface="Arial Black"/>
            </a:endParaRPr>
          </a:p>
          <a:p>
            <a:pPr marL="332105">
              <a:lnSpc>
                <a:spcPct val="100000"/>
              </a:lnSpc>
              <a:spcBef>
                <a:spcPts val="384"/>
              </a:spcBef>
            </a:pPr>
            <a:r>
              <a:rPr dirty="0" sz="1200" spc="-175">
                <a:solidFill>
                  <a:srgbClr val="6A7B86"/>
                </a:solidFill>
                <a:latin typeface="Verdana"/>
                <a:cs typeface="Verdana"/>
              </a:rPr>
              <a:t>In</a:t>
            </a:r>
            <a:r>
              <a:rPr dirty="0" sz="1200" spc="-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90">
                <a:solidFill>
                  <a:srgbClr val="6A7B86"/>
                </a:solidFill>
                <a:latin typeface="Verdana"/>
                <a:cs typeface="Verdana"/>
              </a:rPr>
              <a:t>1%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6A7B86"/>
                </a:solidFill>
                <a:latin typeface="Verdana"/>
                <a:cs typeface="Verdana"/>
              </a:rPr>
              <a:t>of</a:t>
            </a:r>
            <a:r>
              <a:rPr dirty="0" sz="1200" spc="-1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tickets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total</a:t>
            </a:r>
            <a:r>
              <a:rPr dirty="0" sz="1200" spc="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is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70">
                <a:solidFill>
                  <a:srgbClr val="6A7B86"/>
                </a:solidFill>
                <a:latin typeface="Verdana"/>
                <a:cs typeface="Verdana"/>
              </a:rPr>
              <a:t>~7%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below</a:t>
            </a:r>
            <a:r>
              <a:rPr dirty="0" sz="1200" spc="-10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line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items</a:t>
            </a:r>
            <a:r>
              <a:rPr dirty="0" sz="120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(always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0">
                <a:solidFill>
                  <a:srgbClr val="6A7B86"/>
                </a:solidFill>
                <a:latin typeface="Verdana"/>
                <a:cs typeface="Verdana"/>
              </a:rPr>
              <a:t>lower)</a:t>
            </a:r>
            <a:r>
              <a:rPr dirty="0" sz="1200" spc="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200">
                <a:solidFill>
                  <a:srgbClr val="6A7B86"/>
                </a:solidFill>
                <a:latin typeface="Verdana"/>
                <a:cs typeface="Verdana"/>
              </a:rPr>
              <a:t>-</a:t>
            </a:r>
            <a:r>
              <a:rPr dirty="0" sz="1200" spc="-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30">
                <a:solidFill>
                  <a:srgbClr val="6A7B86"/>
                </a:solidFill>
                <a:latin typeface="Verdana"/>
                <a:cs typeface="Verdana"/>
              </a:rPr>
              <a:t>a</a:t>
            </a:r>
            <a:r>
              <a:rPr dirty="0" sz="1200" spc="-2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basket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discount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not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captured</a:t>
            </a:r>
            <a:r>
              <a:rPr dirty="0" sz="1200" spc="-2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at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line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level.</a:t>
            </a:r>
            <a:r>
              <a:rPr dirty="0" sz="1200" spc="4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Certify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one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40">
                <a:solidFill>
                  <a:srgbClr val="6A7B86"/>
                </a:solidFill>
                <a:latin typeface="Verdana"/>
                <a:cs typeface="Verdana"/>
              </a:rPr>
              <a:t>GMV.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35940" y="4455444"/>
            <a:ext cx="14668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10">
                <a:solidFill>
                  <a:srgbClr val="2A9C8E"/>
                </a:solidFill>
                <a:latin typeface="Arial Black"/>
                <a:cs typeface="Arial Black"/>
              </a:rPr>
              <a:t>&gt;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55980" y="4400267"/>
            <a:ext cx="10157460" cy="53149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400" spc="-120">
                <a:solidFill>
                  <a:srgbClr val="12283D"/>
                </a:solidFill>
                <a:latin typeface="Arial Black"/>
                <a:cs typeface="Arial Black"/>
              </a:rPr>
              <a:t>GMROI</a:t>
            </a:r>
            <a:r>
              <a:rPr dirty="0" sz="1400" spc="3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75">
                <a:solidFill>
                  <a:srgbClr val="12283D"/>
                </a:solidFill>
                <a:latin typeface="Arial Black"/>
                <a:cs typeface="Arial Black"/>
              </a:rPr>
              <a:t>reads</a:t>
            </a:r>
            <a:r>
              <a:rPr dirty="0" sz="1400" spc="-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12283D"/>
                </a:solidFill>
                <a:latin typeface="Arial Black"/>
                <a:cs typeface="Arial Black"/>
              </a:rPr>
              <a:t>low</a:t>
            </a:r>
            <a:r>
              <a:rPr dirty="0" sz="1400" spc="-9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20">
                <a:solidFill>
                  <a:srgbClr val="12283D"/>
                </a:solidFill>
                <a:latin typeface="Arial Black"/>
                <a:cs typeface="Arial Black"/>
              </a:rPr>
              <a:t>by</a:t>
            </a:r>
            <a:r>
              <a:rPr dirty="0" sz="1400" spc="-9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construction.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1200" spc="-114">
                <a:solidFill>
                  <a:srgbClr val="6A7B86"/>
                </a:solidFill>
                <a:latin typeface="Verdana"/>
                <a:cs typeface="Verdana"/>
              </a:rPr>
              <a:t>117</a:t>
            </a:r>
            <a:r>
              <a:rPr dirty="0" sz="120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55">
                <a:solidFill>
                  <a:srgbClr val="6A7B86"/>
                </a:solidFill>
                <a:latin typeface="Verdana"/>
                <a:cs typeface="Verdana"/>
              </a:rPr>
              <a:t>of</a:t>
            </a:r>
            <a:r>
              <a:rPr dirty="0" sz="1200" spc="-12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5">
                <a:solidFill>
                  <a:srgbClr val="6A7B86"/>
                </a:solidFill>
                <a:latin typeface="Verdana"/>
                <a:cs typeface="Verdana"/>
              </a:rPr>
              <a:t>126</a:t>
            </a:r>
            <a:r>
              <a:rPr dirty="0" sz="1200" spc="-4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6A7B86"/>
                </a:solidFill>
                <a:latin typeface="Verdana"/>
                <a:cs typeface="Verdana"/>
              </a:rPr>
              <a:t>vendor-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category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combos</a:t>
            </a:r>
            <a:r>
              <a:rPr dirty="0" sz="120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show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55">
                <a:solidFill>
                  <a:srgbClr val="6A7B86"/>
                </a:solidFill>
                <a:latin typeface="Verdana"/>
                <a:cs typeface="Verdana"/>
              </a:rPr>
              <a:t>GMROI&lt;1;</a:t>
            </a:r>
            <a:r>
              <a:rPr dirty="0" sz="1200" spc="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with</a:t>
            </a:r>
            <a:r>
              <a:rPr dirty="0" sz="120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120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given</a:t>
            </a:r>
            <a:r>
              <a:rPr dirty="0" sz="120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5">
                <a:solidFill>
                  <a:srgbClr val="6A7B86"/>
                </a:solidFill>
                <a:latin typeface="Verdana"/>
                <a:cs typeface="Verdana"/>
              </a:rPr>
              <a:t>formula</a:t>
            </a:r>
            <a:r>
              <a:rPr dirty="0" sz="1200" spc="-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that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5">
                <a:solidFill>
                  <a:srgbClr val="6A7B86"/>
                </a:solidFill>
                <a:latin typeface="Verdana"/>
                <a:cs typeface="Verdana"/>
              </a:rPr>
              <a:t>means</a:t>
            </a:r>
            <a:r>
              <a:rPr dirty="0" sz="120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35">
                <a:solidFill>
                  <a:srgbClr val="6A7B86"/>
                </a:solidFill>
                <a:latin typeface="Verdana"/>
                <a:cs typeface="Verdana"/>
              </a:rPr>
              <a:t>markup&lt;100%,</a:t>
            </a:r>
            <a:r>
              <a:rPr dirty="0" sz="1200" spc="3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which</a:t>
            </a:r>
            <a:r>
              <a:rPr dirty="0" sz="120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is</a:t>
            </a:r>
            <a:r>
              <a:rPr dirty="0" sz="120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14">
                <a:solidFill>
                  <a:srgbClr val="6A7B86"/>
                </a:solidFill>
                <a:latin typeface="Verdana"/>
                <a:cs typeface="Verdana"/>
              </a:rPr>
              <a:t>normal.</a:t>
            </a:r>
            <a:r>
              <a:rPr dirty="0" sz="1200" spc="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5">
                <a:solidFill>
                  <a:srgbClr val="6A7B86"/>
                </a:solidFill>
                <a:latin typeface="Verdana"/>
                <a:cs typeface="Verdana"/>
              </a:rPr>
              <a:t>Rank</a:t>
            </a:r>
            <a:r>
              <a:rPr dirty="0" sz="1200" spc="-1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relatively,</a:t>
            </a:r>
            <a:r>
              <a:rPr dirty="0" sz="1200" spc="3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0">
                <a:solidFill>
                  <a:srgbClr val="6A7B86"/>
                </a:solidFill>
                <a:latin typeface="Verdana"/>
                <a:cs typeface="Verdana"/>
              </a:rPr>
              <a:t>do</a:t>
            </a:r>
            <a:r>
              <a:rPr dirty="0" sz="120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not</a:t>
            </a:r>
            <a:r>
              <a:rPr dirty="0" sz="1200" spc="-7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20">
                <a:solidFill>
                  <a:srgbClr val="6A7B86"/>
                </a:solidFill>
                <a:latin typeface="Verdana"/>
                <a:cs typeface="Verdana"/>
              </a:rPr>
              <a:t>alarm.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35940" y="5324124"/>
            <a:ext cx="146685" cy="2343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50" spc="10">
                <a:solidFill>
                  <a:srgbClr val="2A9C8E"/>
                </a:solidFill>
                <a:latin typeface="Arial Black"/>
                <a:cs typeface="Arial Black"/>
              </a:rPr>
              <a:t>&gt;</a:t>
            </a:r>
            <a:endParaRPr sz="1350">
              <a:latin typeface="Arial Black"/>
              <a:cs typeface="Arial Black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55980" y="5268947"/>
            <a:ext cx="6935470" cy="531495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One</a:t>
            </a:r>
            <a:r>
              <a:rPr dirty="0" sz="1400" spc="-4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12283D"/>
                </a:solidFill>
                <a:latin typeface="Arial Black"/>
                <a:cs typeface="Arial Black"/>
              </a:rPr>
              <a:t>store</a:t>
            </a:r>
            <a:r>
              <a:rPr dirty="0" sz="1400" spc="-4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(TIENDA_037)</a:t>
            </a:r>
            <a:r>
              <a:rPr dirty="0" sz="1400" spc="4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is</a:t>
            </a:r>
            <a:r>
              <a:rPr dirty="0" sz="1400" spc="-3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flagged.</a:t>
            </a:r>
            <a:endParaRPr sz="14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384"/>
              </a:spcBef>
            </a:pPr>
            <a:r>
              <a:rPr dirty="0" sz="1200" spc="-120">
                <a:solidFill>
                  <a:srgbClr val="6A7B86"/>
                </a:solidFill>
                <a:latin typeface="Verdana"/>
                <a:cs typeface="Verdana"/>
              </a:rPr>
              <a:t>Pre-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opening</a:t>
            </a:r>
            <a:r>
              <a:rPr dirty="0" sz="1200" spc="-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75">
                <a:solidFill>
                  <a:srgbClr val="6A7B86"/>
                </a:solidFill>
                <a:latin typeface="Verdana"/>
                <a:cs typeface="Verdana"/>
              </a:rPr>
              <a:t>sales</a:t>
            </a:r>
            <a:r>
              <a:rPr dirty="0" sz="120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plus</a:t>
            </a:r>
            <a:r>
              <a:rPr dirty="0" sz="120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5">
                <a:solidFill>
                  <a:srgbClr val="6A7B86"/>
                </a:solidFill>
                <a:latin typeface="Verdana"/>
                <a:cs typeface="Verdana"/>
              </a:rPr>
              <a:t>double</a:t>
            </a:r>
            <a:r>
              <a:rPr dirty="0" sz="120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55">
                <a:solidFill>
                  <a:srgbClr val="6A7B86"/>
                </a:solidFill>
                <a:latin typeface="Verdana"/>
                <a:cs typeface="Verdana"/>
              </a:rPr>
              <a:t>A/B</a:t>
            </a:r>
            <a:r>
              <a:rPr dirty="0" sz="1200" spc="-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0">
                <a:solidFill>
                  <a:srgbClr val="6A7B86"/>
                </a:solidFill>
                <a:latin typeface="Verdana"/>
                <a:cs typeface="Verdana"/>
              </a:rPr>
              <a:t>assignment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200">
                <a:solidFill>
                  <a:srgbClr val="6A7B86"/>
                </a:solidFill>
                <a:latin typeface="Verdana"/>
                <a:cs typeface="Verdana"/>
              </a:rPr>
              <a:t>-</a:t>
            </a:r>
            <a:r>
              <a:rPr dirty="0" sz="1200" spc="-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excluded</a:t>
            </a:r>
            <a:r>
              <a:rPr dirty="0" sz="120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105">
                <a:solidFill>
                  <a:srgbClr val="6A7B86"/>
                </a:solidFill>
                <a:latin typeface="Verdana"/>
                <a:cs typeface="Verdana"/>
              </a:rPr>
              <a:t>from</a:t>
            </a:r>
            <a:r>
              <a:rPr dirty="0" sz="120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80">
                <a:solidFill>
                  <a:srgbClr val="6A7B86"/>
                </a:solidFill>
                <a:latin typeface="Verdana"/>
                <a:cs typeface="Verdana"/>
              </a:rPr>
              <a:t>sensitive</a:t>
            </a:r>
            <a:r>
              <a:rPr dirty="0" sz="120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analyses,</a:t>
            </a:r>
            <a:r>
              <a:rPr dirty="0" sz="1200" spc="4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pending</a:t>
            </a:r>
            <a:r>
              <a:rPr dirty="0" sz="1200" spc="-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95">
                <a:solidFill>
                  <a:srgbClr val="6A7B86"/>
                </a:solidFill>
                <a:latin typeface="Verdana"/>
                <a:cs typeface="Verdana"/>
              </a:rPr>
              <a:t>data</a:t>
            </a:r>
            <a:r>
              <a:rPr dirty="0" sz="1200" spc="-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200" spc="-65">
                <a:solidFill>
                  <a:srgbClr val="6A7B86"/>
                </a:solidFill>
                <a:latin typeface="Verdana"/>
                <a:cs typeface="Verdana"/>
              </a:rPr>
              <a:t>review.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5940" y="6442354"/>
            <a:ext cx="543306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40" i="1">
                <a:solidFill>
                  <a:srgbClr val="6A7B86"/>
                </a:solidFill>
                <a:latin typeface="Verdana"/>
                <a:cs typeface="Verdana"/>
              </a:rPr>
              <a:t>Surfacing</a:t>
            </a:r>
            <a:r>
              <a:rPr dirty="0" sz="850" spc="-1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limitations</a:t>
            </a:r>
            <a:r>
              <a:rPr dirty="0" sz="850" spc="-2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explicitly</a:t>
            </a:r>
            <a:r>
              <a:rPr dirty="0" sz="850" spc="-6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20" i="1">
                <a:solidFill>
                  <a:srgbClr val="6A7B86"/>
                </a:solidFill>
                <a:latin typeface="Verdana"/>
                <a:cs typeface="Verdana"/>
              </a:rPr>
              <a:t>is part</a:t>
            </a:r>
            <a:r>
              <a:rPr dirty="0" sz="850" spc="-5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i="1">
                <a:solidFill>
                  <a:srgbClr val="6A7B86"/>
                </a:solidFill>
                <a:latin typeface="Verdana"/>
                <a:cs typeface="Verdana"/>
              </a:rPr>
              <a:t>of</a:t>
            </a:r>
            <a:r>
              <a:rPr dirty="0" sz="850" spc="-15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trustworthy</a:t>
            </a:r>
            <a:r>
              <a:rPr dirty="0" sz="850" spc="-6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analysis</a:t>
            </a:r>
            <a:r>
              <a:rPr dirty="0" sz="850" spc="-2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110" i="1">
                <a:solidFill>
                  <a:srgbClr val="6A7B86"/>
                </a:solidFill>
                <a:latin typeface="Verdana"/>
                <a:cs typeface="Verdana"/>
              </a:rPr>
              <a:t>-</a:t>
            </a:r>
            <a:r>
              <a:rPr dirty="0" sz="850" spc="2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these</a:t>
            </a:r>
            <a:r>
              <a:rPr dirty="0" sz="85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caveats</a:t>
            </a:r>
            <a:r>
              <a:rPr dirty="0" sz="850" spc="-2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shape</a:t>
            </a:r>
            <a:r>
              <a:rPr dirty="0" sz="85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85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10" i="1">
                <a:solidFill>
                  <a:srgbClr val="6A7B86"/>
                </a:solidFill>
                <a:latin typeface="Verdana"/>
                <a:cs typeface="Verdana"/>
              </a:rPr>
              <a:t>recommendations.</a:t>
            </a:r>
            <a:endParaRPr sz="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4858" y="1456689"/>
            <a:ext cx="11132185" cy="909319"/>
            <a:chOff x="514858" y="1456689"/>
            <a:chExt cx="11132185" cy="909319"/>
          </a:xfrm>
        </p:grpSpPr>
        <p:sp>
          <p:nvSpPr>
            <p:cNvPr id="3" name="object 3"/>
            <p:cNvSpPr/>
            <p:nvPr/>
          </p:nvSpPr>
          <p:spPr>
            <a:xfrm>
              <a:off x="521208" y="1463039"/>
              <a:ext cx="11119485" cy="896619"/>
            </a:xfrm>
            <a:custGeom>
              <a:avLst/>
              <a:gdLst/>
              <a:ahLst/>
              <a:cxnLst/>
              <a:rect l="l" t="t" r="r" b="b"/>
              <a:pathLst>
                <a:path w="11119485" h="896619">
                  <a:moveTo>
                    <a:pt x="11091672" y="0"/>
                  </a:moveTo>
                  <a:lnTo>
                    <a:pt x="27432" y="0"/>
                  </a:lnTo>
                  <a:lnTo>
                    <a:pt x="15430" y="1714"/>
                  </a:lnTo>
                  <a:lnTo>
                    <a:pt x="6857" y="6858"/>
                  </a:lnTo>
                  <a:lnTo>
                    <a:pt x="1714" y="15430"/>
                  </a:lnTo>
                  <a:lnTo>
                    <a:pt x="0" y="27432"/>
                  </a:lnTo>
                  <a:lnTo>
                    <a:pt x="0" y="868680"/>
                  </a:lnTo>
                  <a:lnTo>
                    <a:pt x="1714" y="880681"/>
                  </a:lnTo>
                  <a:lnTo>
                    <a:pt x="6857" y="889254"/>
                  </a:lnTo>
                  <a:lnTo>
                    <a:pt x="15430" y="894397"/>
                  </a:lnTo>
                  <a:lnTo>
                    <a:pt x="27432" y="896112"/>
                  </a:lnTo>
                  <a:lnTo>
                    <a:pt x="11091672" y="896112"/>
                  </a:lnTo>
                  <a:lnTo>
                    <a:pt x="11103673" y="894397"/>
                  </a:lnTo>
                  <a:lnTo>
                    <a:pt x="11112246" y="889254"/>
                  </a:lnTo>
                  <a:lnTo>
                    <a:pt x="11117389" y="880681"/>
                  </a:lnTo>
                  <a:lnTo>
                    <a:pt x="11119104" y="868680"/>
                  </a:lnTo>
                  <a:lnTo>
                    <a:pt x="11119104" y="27432"/>
                  </a:lnTo>
                  <a:lnTo>
                    <a:pt x="11117389" y="15430"/>
                  </a:lnTo>
                  <a:lnTo>
                    <a:pt x="11112246" y="6858"/>
                  </a:lnTo>
                  <a:lnTo>
                    <a:pt x="11103673" y="1714"/>
                  </a:lnTo>
                  <a:lnTo>
                    <a:pt x="11091672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21208" y="1463039"/>
              <a:ext cx="11119485" cy="896619"/>
            </a:xfrm>
            <a:custGeom>
              <a:avLst/>
              <a:gdLst/>
              <a:ahLst/>
              <a:cxnLst/>
              <a:rect l="l" t="t" r="r" b="b"/>
              <a:pathLst>
                <a:path w="11119485" h="896619">
                  <a:moveTo>
                    <a:pt x="27432" y="896112"/>
                  </a:moveTo>
                  <a:lnTo>
                    <a:pt x="11091672" y="896112"/>
                  </a:lnTo>
                  <a:lnTo>
                    <a:pt x="11103673" y="894397"/>
                  </a:lnTo>
                  <a:lnTo>
                    <a:pt x="11112246" y="889254"/>
                  </a:lnTo>
                  <a:lnTo>
                    <a:pt x="11117389" y="880681"/>
                  </a:lnTo>
                  <a:lnTo>
                    <a:pt x="11119104" y="868680"/>
                  </a:lnTo>
                  <a:lnTo>
                    <a:pt x="11119104" y="27432"/>
                  </a:lnTo>
                  <a:lnTo>
                    <a:pt x="11117389" y="15430"/>
                  </a:lnTo>
                  <a:lnTo>
                    <a:pt x="11112246" y="6858"/>
                  </a:lnTo>
                  <a:lnTo>
                    <a:pt x="11103673" y="1714"/>
                  </a:lnTo>
                  <a:lnTo>
                    <a:pt x="11091672" y="0"/>
                  </a:lnTo>
                  <a:lnTo>
                    <a:pt x="27432" y="0"/>
                  </a:lnTo>
                  <a:lnTo>
                    <a:pt x="15430" y="1714"/>
                  </a:lnTo>
                  <a:lnTo>
                    <a:pt x="6857" y="6858"/>
                  </a:lnTo>
                  <a:lnTo>
                    <a:pt x="1714" y="15430"/>
                  </a:lnTo>
                  <a:lnTo>
                    <a:pt x="0" y="27432"/>
                  </a:lnTo>
                  <a:lnTo>
                    <a:pt x="0" y="868680"/>
                  </a:lnTo>
                  <a:lnTo>
                    <a:pt x="1714" y="880681"/>
                  </a:lnTo>
                  <a:lnTo>
                    <a:pt x="6857" y="889254"/>
                  </a:lnTo>
                  <a:lnTo>
                    <a:pt x="15430" y="894397"/>
                  </a:lnTo>
                  <a:lnTo>
                    <a:pt x="27432" y="89611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48640" y="1490471"/>
              <a:ext cx="82550" cy="841375"/>
            </a:xfrm>
            <a:custGeom>
              <a:avLst/>
              <a:gdLst/>
              <a:ahLst/>
              <a:cxnLst/>
              <a:rect l="l" t="t" r="r" b="b"/>
              <a:pathLst>
                <a:path w="82550" h="841375">
                  <a:moveTo>
                    <a:pt x="82295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82295" y="841248"/>
                  </a:lnTo>
                  <a:lnTo>
                    <a:pt x="82295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48640" y="1490471"/>
              <a:ext cx="82550" cy="841375"/>
            </a:xfrm>
            <a:custGeom>
              <a:avLst/>
              <a:gdLst/>
              <a:ahLst/>
              <a:cxnLst/>
              <a:rect l="l" t="t" r="r" b="b"/>
              <a:pathLst>
                <a:path w="82550" h="841375">
                  <a:moveTo>
                    <a:pt x="0" y="841248"/>
                  </a:moveTo>
                  <a:lnTo>
                    <a:pt x="82295" y="841248"/>
                  </a:lnTo>
                  <a:lnTo>
                    <a:pt x="82295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/>
          <p:cNvGrpSpPr/>
          <p:nvPr/>
        </p:nvGrpSpPr>
        <p:grpSpPr>
          <a:xfrm>
            <a:off x="514858" y="2416810"/>
            <a:ext cx="11132185" cy="909319"/>
            <a:chOff x="514858" y="2416810"/>
            <a:chExt cx="11132185" cy="909319"/>
          </a:xfrm>
        </p:grpSpPr>
        <p:sp>
          <p:nvSpPr>
            <p:cNvPr id="8" name="object 8"/>
            <p:cNvSpPr/>
            <p:nvPr/>
          </p:nvSpPr>
          <p:spPr>
            <a:xfrm>
              <a:off x="521208" y="2423160"/>
              <a:ext cx="11119485" cy="896619"/>
            </a:xfrm>
            <a:custGeom>
              <a:avLst/>
              <a:gdLst/>
              <a:ahLst/>
              <a:cxnLst/>
              <a:rect l="l" t="t" r="r" b="b"/>
              <a:pathLst>
                <a:path w="11119485" h="896620">
                  <a:moveTo>
                    <a:pt x="11091672" y="0"/>
                  </a:moveTo>
                  <a:lnTo>
                    <a:pt x="27432" y="0"/>
                  </a:lnTo>
                  <a:lnTo>
                    <a:pt x="15430" y="1714"/>
                  </a:lnTo>
                  <a:lnTo>
                    <a:pt x="6857" y="6857"/>
                  </a:lnTo>
                  <a:lnTo>
                    <a:pt x="1714" y="15430"/>
                  </a:lnTo>
                  <a:lnTo>
                    <a:pt x="0" y="27431"/>
                  </a:lnTo>
                  <a:lnTo>
                    <a:pt x="0" y="868679"/>
                  </a:lnTo>
                  <a:lnTo>
                    <a:pt x="1714" y="880681"/>
                  </a:lnTo>
                  <a:lnTo>
                    <a:pt x="6857" y="889253"/>
                  </a:lnTo>
                  <a:lnTo>
                    <a:pt x="15430" y="894397"/>
                  </a:lnTo>
                  <a:lnTo>
                    <a:pt x="27432" y="896112"/>
                  </a:lnTo>
                  <a:lnTo>
                    <a:pt x="11091672" y="896112"/>
                  </a:lnTo>
                  <a:lnTo>
                    <a:pt x="11103673" y="894397"/>
                  </a:lnTo>
                  <a:lnTo>
                    <a:pt x="11112246" y="889253"/>
                  </a:lnTo>
                  <a:lnTo>
                    <a:pt x="11117389" y="880681"/>
                  </a:lnTo>
                  <a:lnTo>
                    <a:pt x="11119104" y="868679"/>
                  </a:lnTo>
                  <a:lnTo>
                    <a:pt x="11119104" y="27431"/>
                  </a:lnTo>
                  <a:lnTo>
                    <a:pt x="11117389" y="15430"/>
                  </a:lnTo>
                  <a:lnTo>
                    <a:pt x="11112246" y="6857"/>
                  </a:lnTo>
                  <a:lnTo>
                    <a:pt x="11103673" y="1714"/>
                  </a:lnTo>
                  <a:lnTo>
                    <a:pt x="11091672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521208" y="2423160"/>
              <a:ext cx="11119485" cy="896619"/>
            </a:xfrm>
            <a:custGeom>
              <a:avLst/>
              <a:gdLst/>
              <a:ahLst/>
              <a:cxnLst/>
              <a:rect l="l" t="t" r="r" b="b"/>
              <a:pathLst>
                <a:path w="11119485" h="896620">
                  <a:moveTo>
                    <a:pt x="27432" y="896112"/>
                  </a:moveTo>
                  <a:lnTo>
                    <a:pt x="11091672" y="896112"/>
                  </a:lnTo>
                  <a:lnTo>
                    <a:pt x="11103673" y="894397"/>
                  </a:lnTo>
                  <a:lnTo>
                    <a:pt x="11112246" y="889253"/>
                  </a:lnTo>
                  <a:lnTo>
                    <a:pt x="11117389" y="880681"/>
                  </a:lnTo>
                  <a:lnTo>
                    <a:pt x="11119104" y="868679"/>
                  </a:lnTo>
                  <a:lnTo>
                    <a:pt x="11119104" y="27431"/>
                  </a:lnTo>
                  <a:lnTo>
                    <a:pt x="11117389" y="15430"/>
                  </a:lnTo>
                  <a:lnTo>
                    <a:pt x="11112246" y="6857"/>
                  </a:lnTo>
                  <a:lnTo>
                    <a:pt x="11103673" y="1714"/>
                  </a:lnTo>
                  <a:lnTo>
                    <a:pt x="11091672" y="0"/>
                  </a:lnTo>
                  <a:lnTo>
                    <a:pt x="27432" y="0"/>
                  </a:lnTo>
                  <a:lnTo>
                    <a:pt x="15430" y="1714"/>
                  </a:lnTo>
                  <a:lnTo>
                    <a:pt x="6857" y="6857"/>
                  </a:lnTo>
                  <a:lnTo>
                    <a:pt x="1714" y="15430"/>
                  </a:lnTo>
                  <a:lnTo>
                    <a:pt x="0" y="27431"/>
                  </a:lnTo>
                  <a:lnTo>
                    <a:pt x="0" y="868679"/>
                  </a:lnTo>
                  <a:lnTo>
                    <a:pt x="1714" y="880681"/>
                  </a:lnTo>
                  <a:lnTo>
                    <a:pt x="6857" y="889253"/>
                  </a:lnTo>
                  <a:lnTo>
                    <a:pt x="15430" y="894397"/>
                  </a:lnTo>
                  <a:lnTo>
                    <a:pt x="27432" y="89611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48640" y="2450592"/>
              <a:ext cx="82550" cy="841375"/>
            </a:xfrm>
            <a:custGeom>
              <a:avLst/>
              <a:gdLst/>
              <a:ahLst/>
              <a:cxnLst/>
              <a:rect l="l" t="t" r="r" b="b"/>
              <a:pathLst>
                <a:path w="82550" h="841375">
                  <a:moveTo>
                    <a:pt x="82295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82295" y="841248"/>
                  </a:lnTo>
                  <a:lnTo>
                    <a:pt x="82295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48640" y="2450592"/>
              <a:ext cx="82550" cy="841375"/>
            </a:xfrm>
            <a:custGeom>
              <a:avLst/>
              <a:gdLst/>
              <a:ahLst/>
              <a:cxnLst/>
              <a:rect l="l" t="t" r="r" b="b"/>
              <a:pathLst>
                <a:path w="82550" h="841375">
                  <a:moveTo>
                    <a:pt x="0" y="841248"/>
                  </a:moveTo>
                  <a:lnTo>
                    <a:pt x="82295" y="841248"/>
                  </a:lnTo>
                  <a:lnTo>
                    <a:pt x="82295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514858" y="3376929"/>
            <a:ext cx="11132185" cy="909319"/>
            <a:chOff x="514858" y="3376929"/>
            <a:chExt cx="11132185" cy="909319"/>
          </a:xfrm>
        </p:grpSpPr>
        <p:sp>
          <p:nvSpPr>
            <p:cNvPr id="13" name="object 13"/>
            <p:cNvSpPr/>
            <p:nvPr/>
          </p:nvSpPr>
          <p:spPr>
            <a:xfrm>
              <a:off x="521208" y="3383279"/>
              <a:ext cx="11119485" cy="896619"/>
            </a:xfrm>
            <a:custGeom>
              <a:avLst/>
              <a:gdLst/>
              <a:ahLst/>
              <a:cxnLst/>
              <a:rect l="l" t="t" r="r" b="b"/>
              <a:pathLst>
                <a:path w="11119485" h="896620">
                  <a:moveTo>
                    <a:pt x="11091672" y="0"/>
                  </a:moveTo>
                  <a:lnTo>
                    <a:pt x="27432" y="0"/>
                  </a:lnTo>
                  <a:lnTo>
                    <a:pt x="15430" y="1714"/>
                  </a:lnTo>
                  <a:lnTo>
                    <a:pt x="6857" y="6858"/>
                  </a:lnTo>
                  <a:lnTo>
                    <a:pt x="1714" y="15430"/>
                  </a:lnTo>
                  <a:lnTo>
                    <a:pt x="0" y="27432"/>
                  </a:lnTo>
                  <a:lnTo>
                    <a:pt x="0" y="868680"/>
                  </a:lnTo>
                  <a:lnTo>
                    <a:pt x="1714" y="880681"/>
                  </a:lnTo>
                  <a:lnTo>
                    <a:pt x="6857" y="889254"/>
                  </a:lnTo>
                  <a:lnTo>
                    <a:pt x="15430" y="894397"/>
                  </a:lnTo>
                  <a:lnTo>
                    <a:pt x="27432" y="896112"/>
                  </a:lnTo>
                  <a:lnTo>
                    <a:pt x="11091672" y="896112"/>
                  </a:lnTo>
                  <a:lnTo>
                    <a:pt x="11103673" y="894397"/>
                  </a:lnTo>
                  <a:lnTo>
                    <a:pt x="11112246" y="889254"/>
                  </a:lnTo>
                  <a:lnTo>
                    <a:pt x="11117389" y="880681"/>
                  </a:lnTo>
                  <a:lnTo>
                    <a:pt x="11119104" y="868680"/>
                  </a:lnTo>
                  <a:lnTo>
                    <a:pt x="11119104" y="27432"/>
                  </a:lnTo>
                  <a:lnTo>
                    <a:pt x="11117389" y="15430"/>
                  </a:lnTo>
                  <a:lnTo>
                    <a:pt x="11112246" y="6858"/>
                  </a:lnTo>
                  <a:lnTo>
                    <a:pt x="11103673" y="1714"/>
                  </a:lnTo>
                  <a:lnTo>
                    <a:pt x="11091672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21208" y="3383279"/>
              <a:ext cx="11119485" cy="896619"/>
            </a:xfrm>
            <a:custGeom>
              <a:avLst/>
              <a:gdLst/>
              <a:ahLst/>
              <a:cxnLst/>
              <a:rect l="l" t="t" r="r" b="b"/>
              <a:pathLst>
                <a:path w="11119485" h="896620">
                  <a:moveTo>
                    <a:pt x="27432" y="896112"/>
                  </a:moveTo>
                  <a:lnTo>
                    <a:pt x="11091672" y="896112"/>
                  </a:lnTo>
                  <a:lnTo>
                    <a:pt x="11103673" y="894397"/>
                  </a:lnTo>
                  <a:lnTo>
                    <a:pt x="11112246" y="889254"/>
                  </a:lnTo>
                  <a:lnTo>
                    <a:pt x="11117389" y="880681"/>
                  </a:lnTo>
                  <a:lnTo>
                    <a:pt x="11119104" y="868680"/>
                  </a:lnTo>
                  <a:lnTo>
                    <a:pt x="11119104" y="27432"/>
                  </a:lnTo>
                  <a:lnTo>
                    <a:pt x="11117389" y="15430"/>
                  </a:lnTo>
                  <a:lnTo>
                    <a:pt x="11112246" y="6858"/>
                  </a:lnTo>
                  <a:lnTo>
                    <a:pt x="11103673" y="1714"/>
                  </a:lnTo>
                  <a:lnTo>
                    <a:pt x="11091672" y="0"/>
                  </a:lnTo>
                  <a:lnTo>
                    <a:pt x="27432" y="0"/>
                  </a:lnTo>
                  <a:lnTo>
                    <a:pt x="15430" y="1714"/>
                  </a:lnTo>
                  <a:lnTo>
                    <a:pt x="6857" y="6858"/>
                  </a:lnTo>
                  <a:lnTo>
                    <a:pt x="1714" y="15430"/>
                  </a:lnTo>
                  <a:lnTo>
                    <a:pt x="0" y="27432"/>
                  </a:lnTo>
                  <a:lnTo>
                    <a:pt x="0" y="868680"/>
                  </a:lnTo>
                  <a:lnTo>
                    <a:pt x="1714" y="880681"/>
                  </a:lnTo>
                  <a:lnTo>
                    <a:pt x="6857" y="889254"/>
                  </a:lnTo>
                  <a:lnTo>
                    <a:pt x="15430" y="894397"/>
                  </a:lnTo>
                  <a:lnTo>
                    <a:pt x="27432" y="89611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48640" y="3410711"/>
              <a:ext cx="82550" cy="841375"/>
            </a:xfrm>
            <a:custGeom>
              <a:avLst/>
              <a:gdLst/>
              <a:ahLst/>
              <a:cxnLst/>
              <a:rect l="l" t="t" r="r" b="b"/>
              <a:pathLst>
                <a:path w="82550" h="841375">
                  <a:moveTo>
                    <a:pt x="82295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82295" y="841248"/>
                  </a:lnTo>
                  <a:lnTo>
                    <a:pt x="82295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548640" y="3410711"/>
              <a:ext cx="82550" cy="841375"/>
            </a:xfrm>
            <a:custGeom>
              <a:avLst/>
              <a:gdLst/>
              <a:ahLst/>
              <a:cxnLst/>
              <a:rect l="l" t="t" r="r" b="b"/>
              <a:pathLst>
                <a:path w="82550" h="841375">
                  <a:moveTo>
                    <a:pt x="0" y="841248"/>
                  </a:moveTo>
                  <a:lnTo>
                    <a:pt x="82295" y="841248"/>
                  </a:lnTo>
                  <a:lnTo>
                    <a:pt x="82295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514858" y="4337050"/>
            <a:ext cx="11132185" cy="909319"/>
            <a:chOff x="514858" y="4337050"/>
            <a:chExt cx="11132185" cy="909319"/>
          </a:xfrm>
        </p:grpSpPr>
        <p:sp>
          <p:nvSpPr>
            <p:cNvPr id="18" name="object 18"/>
            <p:cNvSpPr/>
            <p:nvPr/>
          </p:nvSpPr>
          <p:spPr>
            <a:xfrm>
              <a:off x="521208" y="4343400"/>
              <a:ext cx="11119485" cy="896619"/>
            </a:xfrm>
            <a:custGeom>
              <a:avLst/>
              <a:gdLst/>
              <a:ahLst/>
              <a:cxnLst/>
              <a:rect l="l" t="t" r="r" b="b"/>
              <a:pathLst>
                <a:path w="11119485" h="896620">
                  <a:moveTo>
                    <a:pt x="11091672" y="0"/>
                  </a:moveTo>
                  <a:lnTo>
                    <a:pt x="27432" y="0"/>
                  </a:lnTo>
                  <a:lnTo>
                    <a:pt x="15430" y="1714"/>
                  </a:lnTo>
                  <a:lnTo>
                    <a:pt x="6857" y="6857"/>
                  </a:lnTo>
                  <a:lnTo>
                    <a:pt x="1714" y="15430"/>
                  </a:lnTo>
                  <a:lnTo>
                    <a:pt x="0" y="27431"/>
                  </a:lnTo>
                  <a:lnTo>
                    <a:pt x="0" y="868680"/>
                  </a:lnTo>
                  <a:lnTo>
                    <a:pt x="1714" y="880681"/>
                  </a:lnTo>
                  <a:lnTo>
                    <a:pt x="6857" y="889254"/>
                  </a:lnTo>
                  <a:lnTo>
                    <a:pt x="15430" y="894397"/>
                  </a:lnTo>
                  <a:lnTo>
                    <a:pt x="27432" y="896112"/>
                  </a:lnTo>
                  <a:lnTo>
                    <a:pt x="11091672" y="896112"/>
                  </a:lnTo>
                  <a:lnTo>
                    <a:pt x="11103673" y="894397"/>
                  </a:lnTo>
                  <a:lnTo>
                    <a:pt x="11112246" y="889254"/>
                  </a:lnTo>
                  <a:lnTo>
                    <a:pt x="11117389" y="880681"/>
                  </a:lnTo>
                  <a:lnTo>
                    <a:pt x="11119104" y="868680"/>
                  </a:lnTo>
                  <a:lnTo>
                    <a:pt x="11119104" y="27431"/>
                  </a:lnTo>
                  <a:lnTo>
                    <a:pt x="11117389" y="15430"/>
                  </a:lnTo>
                  <a:lnTo>
                    <a:pt x="11112246" y="6857"/>
                  </a:lnTo>
                  <a:lnTo>
                    <a:pt x="11103673" y="1714"/>
                  </a:lnTo>
                  <a:lnTo>
                    <a:pt x="11091672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21208" y="4343400"/>
              <a:ext cx="11119485" cy="896619"/>
            </a:xfrm>
            <a:custGeom>
              <a:avLst/>
              <a:gdLst/>
              <a:ahLst/>
              <a:cxnLst/>
              <a:rect l="l" t="t" r="r" b="b"/>
              <a:pathLst>
                <a:path w="11119485" h="896620">
                  <a:moveTo>
                    <a:pt x="27432" y="896112"/>
                  </a:moveTo>
                  <a:lnTo>
                    <a:pt x="11091672" y="896112"/>
                  </a:lnTo>
                  <a:lnTo>
                    <a:pt x="11103673" y="894397"/>
                  </a:lnTo>
                  <a:lnTo>
                    <a:pt x="11112246" y="889254"/>
                  </a:lnTo>
                  <a:lnTo>
                    <a:pt x="11117389" y="880681"/>
                  </a:lnTo>
                  <a:lnTo>
                    <a:pt x="11119104" y="868680"/>
                  </a:lnTo>
                  <a:lnTo>
                    <a:pt x="11119104" y="27431"/>
                  </a:lnTo>
                  <a:lnTo>
                    <a:pt x="11117389" y="15430"/>
                  </a:lnTo>
                  <a:lnTo>
                    <a:pt x="11112246" y="6857"/>
                  </a:lnTo>
                  <a:lnTo>
                    <a:pt x="11103673" y="1714"/>
                  </a:lnTo>
                  <a:lnTo>
                    <a:pt x="11091672" y="0"/>
                  </a:lnTo>
                  <a:lnTo>
                    <a:pt x="27432" y="0"/>
                  </a:lnTo>
                  <a:lnTo>
                    <a:pt x="15430" y="1714"/>
                  </a:lnTo>
                  <a:lnTo>
                    <a:pt x="6857" y="6857"/>
                  </a:lnTo>
                  <a:lnTo>
                    <a:pt x="1714" y="15430"/>
                  </a:lnTo>
                  <a:lnTo>
                    <a:pt x="0" y="27431"/>
                  </a:lnTo>
                  <a:lnTo>
                    <a:pt x="0" y="868680"/>
                  </a:lnTo>
                  <a:lnTo>
                    <a:pt x="1714" y="880681"/>
                  </a:lnTo>
                  <a:lnTo>
                    <a:pt x="6857" y="889254"/>
                  </a:lnTo>
                  <a:lnTo>
                    <a:pt x="15430" y="894397"/>
                  </a:lnTo>
                  <a:lnTo>
                    <a:pt x="27432" y="896112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548640" y="4370832"/>
              <a:ext cx="82550" cy="841375"/>
            </a:xfrm>
            <a:custGeom>
              <a:avLst/>
              <a:gdLst/>
              <a:ahLst/>
              <a:cxnLst/>
              <a:rect l="l" t="t" r="r" b="b"/>
              <a:pathLst>
                <a:path w="82550" h="841375">
                  <a:moveTo>
                    <a:pt x="82295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82295" y="841248"/>
                  </a:lnTo>
                  <a:lnTo>
                    <a:pt x="82295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548640" y="4370832"/>
              <a:ext cx="82550" cy="841375"/>
            </a:xfrm>
            <a:custGeom>
              <a:avLst/>
              <a:gdLst/>
              <a:ahLst/>
              <a:cxnLst/>
              <a:rect l="l" t="t" r="r" b="b"/>
              <a:pathLst>
                <a:path w="82550" h="841375">
                  <a:moveTo>
                    <a:pt x="0" y="841248"/>
                  </a:moveTo>
                  <a:lnTo>
                    <a:pt x="82295" y="841248"/>
                  </a:lnTo>
                  <a:lnTo>
                    <a:pt x="82295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2" name="object 22"/>
          <p:cNvGrpSpPr/>
          <p:nvPr/>
        </p:nvGrpSpPr>
        <p:grpSpPr>
          <a:xfrm>
            <a:off x="514858" y="5297170"/>
            <a:ext cx="11132185" cy="909319"/>
            <a:chOff x="514858" y="5297170"/>
            <a:chExt cx="11132185" cy="909319"/>
          </a:xfrm>
        </p:grpSpPr>
        <p:sp>
          <p:nvSpPr>
            <p:cNvPr id="23" name="object 23"/>
            <p:cNvSpPr/>
            <p:nvPr/>
          </p:nvSpPr>
          <p:spPr>
            <a:xfrm>
              <a:off x="521208" y="5303520"/>
              <a:ext cx="11119485" cy="896619"/>
            </a:xfrm>
            <a:custGeom>
              <a:avLst/>
              <a:gdLst/>
              <a:ahLst/>
              <a:cxnLst/>
              <a:rect l="l" t="t" r="r" b="b"/>
              <a:pathLst>
                <a:path w="11119485" h="896620">
                  <a:moveTo>
                    <a:pt x="11091672" y="0"/>
                  </a:moveTo>
                  <a:lnTo>
                    <a:pt x="27432" y="0"/>
                  </a:lnTo>
                  <a:lnTo>
                    <a:pt x="15430" y="1714"/>
                  </a:lnTo>
                  <a:lnTo>
                    <a:pt x="6857" y="6857"/>
                  </a:lnTo>
                  <a:lnTo>
                    <a:pt x="1714" y="15430"/>
                  </a:lnTo>
                  <a:lnTo>
                    <a:pt x="0" y="27431"/>
                  </a:lnTo>
                  <a:lnTo>
                    <a:pt x="0" y="868679"/>
                  </a:lnTo>
                  <a:lnTo>
                    <a:pt x="1714" y="880681"/>
                  </a:lnTo>
                  <a:lnTo>
                    <a:pt x="6857" y="889253"/>
                  </a:lnTo>
                  <a:lnTo>
                    <a:pt x="15430" y="894397"/>
                  </a:lnTo>
                  <a:lnTo>
                    <a:pt x="27432" y="896111"/>
                  </a:lnTo>
                  <a:lnTo>
                    <a:pt x="11091672" y="896111"/>
                  </a:lnTo>
                  <a:lnTo>
                    <a:pt x="11103673" y="894397"/>
                  </a:lnTo>
                  <a:lnTo>
                    <a:pt x="11112246" y="889253"/>
                  </a:lnTo>
                  <a:lnTo>
                    <a:pt x="11117389" y="880681"/>
                  </a:lnTo>
                  <a:lnTo>
                    <a:pt x="11119104" y="868679"/>
                  </a:lnTo>
                  <a:lnTo>
                    <a:pt x="11119104" y="27431"/>
                  </a:lnTo>
                  <a:lnTo>
                    <a:pt x="11117389" y="15430"/>
                  </a:lnTo>
                  <a:lnTo>
                    <a:pt x="11112246" y="6857"/>
                  </a:lnTo>
                  <a:lnTo>
                    <a:pt x="11103673" y="1714"/>
                  </a:lnTo>
                  <a:lnTo>
                    <a:pt x="11091672" y="0"/>
                  </a:lnTo>
                  <a:close/>
                </a:path>
              </a:pathLst>
            </a:custGeom>
            <a:solidFill>
              <a:srgbClr val="FFFCF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21208" y="5303520"/>
              <a:ext cx="11119485" cy="896619"/>
            </a:xfrm>
            <a:custGeom>
              <a:avLst/>
              <a:gdLst/>
              <a:ahLst/>
              <a:cxnLst/>
              <a:rect l="l" t="t" r="r" b="b"/>
              <a:pathLst>
                <a:path w="11119485" h="896620">
                  <a:moveTo>
                    <a:pt x="27432" y="896111"/>
                  </a:moveTo>
                  <a:lnTo>
                    <a:pt x="11091672" y="896111"/>
                  </a:lnTo>
                  <a:lnTo>
                    <a:pt x="11103673" y="894397"/>
                  </a:lnTo>
                  <a:lnTo>
                    <a:pt x="11112246" y="889253"/>
                  </a:lnTo>
                  <a:lnTo>
                    <a:pt x="11117389" y="880681"/>
                  </a:lnTo>
                  <a:lnTo>
                    <a:pt x="11119104" y="868679"/>
                  </a:lnTo>
                  <a:lnTo>
                    <a:pt x="11119104" y="27431"/>
                  </a:lnTo>
                  <a:lnTo>
                    <a:pt x="11117389" y="15430"/>
                  </a:lnTo>
                  <a:lnTo>
                    <a:pt x="11112246" y="6857"/>
                  </a:lnTo>
                  <a:lnTo>
                    <a:pt x="11103673" y="1714"/>
                  </a:lnTo>
                  <a:lnTo>
                    <a:pt x="11091672" y="0"/>
                  </a:lnTo>
                  <a:lnTo>
                    <a:pt x="27432" y="0"/>
                  </a:lnTo>
                  <a:lnTo>
                    <a:pt x="15430" y="1714"/>
                  </a:lnTo>
                  <a:lnTo>
                    <a:pt x="6857" y="6857"/>
                  </a:lnTo>
                  <a:lnTo>
                    <a:pt x="1714" y="15430"/>
                  </a:lnTo>
                  <a:lnTo>
                    <a:pt x="0" y="27431"/>
                  </a:lnTo>
                  <a:lnTo>
                    <a:pt x="0" y="868679"/>
                  </a:lnTo>
                  <a:lnTo>
                    <a:pt x="1714" y="880681"/>
                  </a:lnTo>
                  <a:lnTo>
                    <a:pt x="6857" y="889253"/>
                  </a:lnTo>
                  <a:lnTo>
                    <a:pt x="15430" y="894397"/>
                  </a:lnTo>
                  <a:lnTo>
                    <a:pt x="27432" y="896111"/>
                  </a:lnTo>
                  <a:close/>
                </a:path>
              </a:pathLst>
            </a:custGeom>
            <a:ln w="12700">
              <a:solidFill>
                <a:srgbClr val="E2DDC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48640" y="5330952"/>
              <a:ext cx="82550" cy="841375"/>
            </a:xfrm>
            <a:custGeom>
              <a:avLst/>
              <a:gdLst/>
              <a:ahLst/>
              <a:cxnLst/>
              <a:rect l="l" t="t" r="r" b="b"/>
              <a:pathLst>
                <a:path w="82550" h="841375">
                  <a:moveTo>
                    <a:pt x="82295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82295" y="841248"/>
                  </a:lnTo>
                  <a:lnTo>
                    <a:pt x="82295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48640" y="5330952"/>
              <a:ext cx="82550" cy="841375"/>
            </a:xfrm>
            <a:custGeom>
              <a:avLst/>
              <a:gdLst/>
              <a:ahLst/>
              <a:cxnLst/>
              <a:rect l="l" t="t" r="r" b="b"/>
              <a:pathLst>
                <a:path w="82550" h="841375">
                  <a:moveTo>
                    <a:pt x="0" y="841248"/>
                  </a:moveTo>
                  <a:lnTo>
                    <a:pt x="82295" y="841248"/>
                  </a:lnTo>
                  <a:lnTo>
                    <a:pt x="82295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-6350" y="706881"/>
            <a:ext cx="12202160" cy="49530"/>
            <a:chOff x="-6350" y="706881"/>
            <a:chExt cx="12202160" cy="49530"/>
          </a:xfrm>
        </p:grpSpPr>
        <p:sp>
          <p:nvSpPr>
            <p:cNvPr id="28" name="object 28"/>
            <p:cNvSpPr/>
            <p:nvPr/>
          </p:nvSpPr>
          <p:spPr>
            <a:xfrm>
              <a:off x="0" y="713231"/>
              <a:ext cx="12189460" cy="36830"/>
            </a:xfrm>
            <a:custGeom>
              <a:avLst/>
              <a:gdLst/>
              <a:ahLst/>
              <a:cxnLst/>
              <a:rect l="l" t="t" r="r" b="b"/>
              <a:pathLst>
                <a:path w="12189460" h="36829">
                  <a:moveTo>
                    <a:pt x="12188952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12188952" y="3657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2A9C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0" y="713231"/>
              <a:ext cx="12189460" cy="36830"/>
            </a:xfrm>
            <a:custGeom>
              <a:avLst/>
              <a:gdLst/>
              <a:ahLst/>
              <a:cxnLst/>
              <a:rect l="l" t="t" r="r" b="b"/>
              <a:pathLst>
                <a:path w="12189460" h="36829">
                  <a:moveTo>
                    <a:pt x="0" y="36575"/>
                  </a:moveTo>
                  <a:lnTo>
                    <a:pt x="12188952" y="36575"/>
                  </a:lnTo>
                  <a:lnTo>
                    <a:pt x="12188952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699">
              <a:solidFill>
                <a:srgbClr val="2A9C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35940" y="78473"/>
            <a:ext cx="1489710" cy="2000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150" spc="-125">
                <a:solidFill>
                  <a:srgbClr val="E9C469"/>
                </a:solidFill>
                <a:latin typeface="Arial Black"/>
                <a:cs typeface="Arial Black"/>
              </a:rPr>
              <a:t>RECOMMENDATIONS</a:t>
            </a:r>
            <a:endParaRPr sz="1150">
              <a:latin typeface="Arial Black"/>
              <a:cs typeface="Arial Black"/>
            </a:endParaRPr>
          </a:p>
        </p:txBody>
      </p:sp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xfrm>
            <a:off x="535940" y="231742"/>
            <a:ext cx="5161280" cy="3911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80"/>
              <a:t>Five</a:t>
            </a:r>
            <a:r>
              <a:rPr dirty="0" spc="-100"/>
              <a:t> </a:t>
            </a:r>
            <a:r>
              <a:rPr dirty="0" spc="-295"/>
              <a:t>moves,</a:t>
            </a:r>
            <a:r>
              <a:rPr dirty="0" spc="80"/>
              <a:t> </a:t>
            </a:r>
            <a:r>
              <a:rPr dirty="0" spc="-200"/>
              <a:t>each</a:t>
            </a:r>
            <a:r>
              <a:rPr dirty="0" spc="-170"/>
              <a:t> </a:t>
            </a:r>
            <a:r>
              <a:rPr dirty="0" spc="-155"/>
              <a:t>tied </a:t>
            </a:r>
            <a:r>
              <a:rPr dirty="0" spc="-185"/>
              <a:t>to</a:t>
            </a:r>
            <a:r>
              <a:rPr dirty="0" spc="-114"/>
              <a:t> </a:t>
            </a:r>
            <a:r>
              <a:rPr dirty="0" spc="-185"/>
              <a:t>a</a:t>
            </a:r>
            <a:r>
              <a:rPr dirty="0" spc="-150"/>
              <a:t> number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11375349" y="277855"/>
            <a:ext cx="245110" cy="2171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50" spc="-135">
                <a:solidFill>
                  <a:srgbClr val="7C92A3"/>
                </a:solidFill>
                <a:latin typeface="Verdana"/>
                <a:cs typeface="Verdana"/>
              </a:rPr>
              <a:t>5/5</a:t>
            </a:r>
            <a:endParaRPr sz="1250">
              <a:latin typeface="Verdana"/>
              <a:cs typeface="Verdana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633730" indent="-279400">
              <a:lnSpc>
                <a:spcPct val="100000"/>
              </a:lnSpc>
              <a:spcBef>
                <a:spcPts val="125"/>
              </a:spcBef>
              <a:buAutoNum type="arabicPeriod"/>
              <a:tabLst>
                <a:tab pos="633730" algn="l"/>
              </a:tabLst>
            </a:pPr>
            <a:r>
              <a:rPr dirty="0" spc="-114"/>
              <a:t>Scale</a:t>
            </a:r>
            <a:r>
              <a:rPr dirty="0" spc="-40"/>
              <a:t> </a:t>
            </a:r>
            <a:r>
              <a:rPr dirty="0" spc="-60"/>
              <a:t>the</a:t>
            </a:r>
            <a:r>
              <a:rPr dirty="0" spc="-40"/>
              <a:t> </a:t>
            </a:r>
            <a:r>
              <a:rPr dirty="0" spc="-90"/>
              <a:t>new</a:t>
            </a:r>
            <a:r>
              <a:rPr dirty="0" spc="-85"/>
              <a:t> </a:t>
            </a:r>
            <a:r>
              <a:rPr dirty="0" spc="-65"/>
              <a:t>display</a:t>
            </a:r>
            <a:r>
              <a:rPr dirty="0" spc="-80"/>
              <a:t> </a:t>
            </a:r>
            <a:r>
              <a:rPr dirty="0" spc="-45"/>
              <a:t>from</a:t>
            </a:r>
            <a:r>
              <a:rPr dirty="0" spc="-35"/>
              <a:t> </a:t>
            </a:r>
            <a:r>
              <a:rPr dirty="0" spc="-50"/>
              <a:t>pilot</a:t>
            </a:r>
            <a:r>
              <a:rPr dirty="0" spc="-45"/>
              <a:t> </a:t>
            </a:r>
            <a:r>
              <a:rPr dirty="0" spc="-30"/>
              <a:t>to</a:t>
            </a:r>
            <a:r>
              <a:rPr dirty="0" spc="-45"/>
              <a:t> </a:t>
            </a:r>
            <a:r>
              <a:rPr dirty="0" spc="-10"/>
              <a:t>network.</a:t>
            </a:r>
          </a:p>
          <a:p>
            <a:pPr marL="354330">
              <a:lnSpc>
                <a:spcPct val="100000"/>
              </a:lnSpc>
              <a:spcBef>
                <a:spcPts val="935"/>
              </a:spcBef>
            </a:pPr>
            <a:r>
              <a:rPr dirty="0" sz="1150" spc="-80">
                <a:solidFill>
                  <a:srgbClr val="6A7B86"/>
                </a:solidFill>
                <a:latin typeface="Verdana"/>
                <a:cs typeface="Verdana"/>
              </a:rPr>
              <a:t>Validated</a:t>
            </a:r>
            <a:r>
              <a:rPr dirty="0" sz="115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35">
                <a:solidFill>
                  <a:srgbClr val="6A7B86"/>
                </a:solidFill>
                <a:latin typeface="Verdana"/>
                <a:cs typeface="Verdana"/>
              </a:rPr>
              <a:t>+10%</a:t>
            </a:r>
            <a:r>
              <a:rPr dirty="0" sz="1150" spc="-9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GMV</a:t>
            </a:r>
            <a:r>
              <a:rPr dirty="0" sz="1150" spc="-12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50">
                <a:solidFill>
                  <a:srgbClr val="6A7B86"/>
                </a:solidFill>
                <a:latin typeface="Verdana"/>
                <a:cs typeface="Verdana"/>
              </a:rPr>
              <a:t>lift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20">
                <a:solidFill>
                  <a:srgbClr val="6A7B86"/>
                </a:solidFill>
                <a:latin typeface="Verdana"/>
                <a:cs typeface="Verdana"/>
              </a:rPr>
              <a:t>(p=0.</a:t>
            </a:r>
            <a:r>
              <a:rPr dirty="0" sz="1150" spc="-29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10">
                <a:solidFill>
                  <a:srgbClr val="6A7B86"/>
                </a:solidFill>
                <a:latin typeface="Verdana"/>
                <a:cs typeface="Verdana"/>
              </a:rPr>
              <a:t>004,</a:t>
            </a:r>
            <a:r>
              <a:rPr dirty="0" sz="1150" spc="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50">
                <a:solidFill>
                  <a:srgbClr val="6A7B86"/>
                </a:solidFill>
                <a:latin typeface="Verdana"/>
                <a:cs typeface="Verdana"/>
              </a:rPr>
              <a:t>95%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95">
                <a:solidFill>
                  <a:srgbClr val="6A7B86"/>
                </a:solidFill>
                <a:latin typeface="Verdana"/>
                <a:cs typeface="Verdana"/>
              </a:rPr>
              <a:t>CI</a:t>
            </a:r>
            <a:r>
              <a:rPr dirty="0" sz="1150" spc="3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roughly </a:t>
            </a:r>
            <a:r>
              <a:rPr dirty="0" sz="1150" spc="-130">
                <a:solidFill>
                  <a:srgbClr val="6A7B86"/>
                </a:solidFill>
                <a:latin typeface="Verdana"/>
                <a:cs typeface="Verdana"/>
              </a:rPr>
              <a:t>+3.</a:t>
            </a:r>
            <a:r>
              <a:rPr dirty="0" sz="1150" spc="-30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75">
                <a:solidFill>
                  <a:srgbClr val="6A7B86"/>
                </a:solidFill>
                <a:latin typeface="Verdana"/>
                <a:cs typeface="Verdana"/>
              </a:rPr>
              <a:t>4%</a:t>
            </a:r>
            <a:r>
              <a:rPr dirty="0" sz="1150" spc="-9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to</a:t>
            </a:r>
            <a:r>
              <a:rPr dirty="0" sz="115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25">
                <a:solidFill>
                  <a:srgbClr val="6A7B86"/>
                </a:solidFill>
                <a:latin typeface="Verdana"/>
                <a:cs typeface="Verdana"/>
              </a:rPr>
              <a:t>+16.</a:t>
            </a:r>
            <a:r>
              <a:rPr dirty="0" sz="1150" spc="-29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80">
                <a:solidFill>
                  <a:srgbClr val="6A7B86"/>
                </a:solidFill>
                <a:latin typeface="Verdana"/>
                <a:cs typeface="Verdana"/>
              </a:rPr>
              <a:t>6%).</a:t>
            </a:r>
            <a:r>
              <a:rPr dirty="0" sz="1150" spc="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Approve</a:t>
            </a:r>
            <a:r>
              <a:rPr dirty="0" sz="115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90">
                <a:solidFill>
                  <a:srgbClr val="6A7B86"/>
                </a:solidFill>
                <a:latin typeface="Verdana"/>
                <a:cs typeface="Verdana"/>
              </a:rPr>
              <a:t>where</a:t>
            </a:r>
            <a:r>
              <a:rPr dirty="0" sz="115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90">
                <a:solidFill>
                  <a:srgbClr val="6A7B86"/>
                </a:solidFill>
                <a:latin typeface="Verdana"/>
                <a:cs typeface="Verdana"/>
              </a:rPr>
              <a:t>cost/store</a:t>
            </a:r>
            <a:r>
              <a:rPr dirty="0" sz="115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40">
                <a:solidFill>
                  <a:srgbClr val="6A7B86"/>
                </a:solidFill>
                <a:latin typeface="Verdana"/>
                <a:cs typeface="Verdana"/>
              </a:rPr>
              <a:t>&lt;</a:t>
            </a:r>
            <a:r>
              <a:rPr dirty="0" sz="115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0">
                <a:solidFill>
                  <a:srgbClr val="6A7B86"/>
                </a:solidFill>
                <a:latin typeface="Verdana"/>
                <a:cs typeface="Verdana"/>
              </a:rPr>
              <a:t>incremental</a:t>
            </a:r>
            <a:r>
              <a:rPr dirty="0" sz="1150" spc="3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0">
                <a:solidFill>
                  <a:srgbClr val="6A7B86"/>
                </a:solidFill>
                <a:latin typeface="Verdana"/>
                <a:cs typeface="Verdana"/>
              </a:rPr>
              <a:t>margin.</a:t>
            </a: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000">
              <a:latin typeface="Verdana"/>
              <a:cs typeface="Verdana"/>
            </a:endParaRPr>
          </a:p>
          <a:p>
            <a:pPr marL="633730" indent="-279400">
              <a:lnSpc>
                <a:spcPct val="100000"/>
              </a:lnSpc>
              <a:buAutoNum type="arabicPeriod" startAt="2"/>
              <a:tabLst>
                <a:tab pos="633730" algn="l"/>
              </a:tabLst>
            </a:pPr>
            <a:r>
              <a:rPr dirty="0" spc="-70"/>
              <a:t>Re-</a:t>
            </a:r>
            <a:r>
              <a:rPr dirty="0" spc="-80"/>
              <a:t>weight</a:t>
            </a:r>
            <a:r>
              <a:rPr dirty="0" spc="-25"/>
              <a:t> </a:t>
            </a:r>
            <a:r>
              <a:rPr dirty="0" spc="-90"/>
              <a:t>expansion</a:t>
            </a:r>
            <a:r>
              <a:rPr dirty="0" spc="40"/>
              <a:t> </a:t>
            </a:r>
            <a:r>
              <a:rPr dirty="0" spc="-80"/>
              <a:t>toward</a:t>
            </a:r>
            <a:r>
              <a:rPr dirty="0" spc="40"/>
              <a:t> </a:t>
            </a:r>
            <a:r>
              <a:rPr dirty="0" spc="-10"/>
              <a:t>EXPRESS.</a:t>
            </a:r>
          </a:p>
          <a:p>
            <a:pPr marL="354330">
              <a:lnSpc>
                <a:spcPct val="100000"/>
              </a:lnSpc>
              <a:spcBef>
                <a:spcPts val="935"/>
              </a:spcBef>
            </a:pPr>
            <a:r>
              <a:rPr dirty="0" sz="1150" spc="-110">
                <a:solidFill>
                  <a:srgbClr val="6A7B86"/>
                </a:solidFill>
                <a:latin typeface="Verdana"/>
                <a:cs typeface="Verdana"/>
              </a:rPr>
              <a:t>Target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70">
                <a:solidFill>
                  <a:srgbClr val="6A7B86"/>
                </a:solidFill>
                <a:latin typeface="Verdana"/>
                <a:cs typeface="Verdana"/>
              </a:rPr>
              <a:t>capital</a:t>
            </a:r>
            <a:r>
              <a:rPr dirty="0" sz="1150" spc="3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90">
                <a:solidFill>
                  <a:srgbClr val="6A7B86"/>
                </a:solidFill>
                <a:latin typeface="Verdana"/>
                <a:cs typeface="Verdana"/>
              </a:rPr>
              <a:t>efficiency:</a:t>
            </a:r>
            <a:r>
              <a:rPr dirty="0" sz="1150" spc="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10">
                <a:solidFill>
                  <a:srgbClr val="6A7B86"/>
                </a:solidFill>
                <a:latin typeface="Verdana"/>
                <a:cs typeface="Verdana"/>
              </a:rPr>
              <a:t>$1,057/m2</a:t>
            </a:r>
            <a:r>
              <a:rPr dirty="0" sz="1150" spc="-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90">
                <a:solidFill>
                  <a:srgbClr val="6A7B86"/>
                </a:solidFill>
                <a:latin typeface="Verdana"/>
                <a:cs typeface="Verdana"/>
              </a:rPr>
              <a:t>vs</a:t>
            </a:r>
            <a:r>
              <a:rPr dirty="0" sz="115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10">
                <a:solidFill>
                  <a:srgbClr val="6A7B86"/>
                </a:solidFill>
                <a:latin typeface="Verdana"/>
                <a:cs typeface="Verdana"/>
              </a:rPr>
              <a:t>$412</a:t>
            </a:r>
            <a:r>
              <a:rPr dirty="0" sz="11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85">
                <a:solidFill>
                  <a:srgbClr val="6A7B86"/>
                </a:solidFill>
                <a:latin typeface="Verdana"/>
                <a:cs typeface="Verdana"/>
              </a:rPr>
              <a:t>-</a:t>
            </a:r>
            <a:r>
              <a:rPr dirty="0" sz="1150" spc="-3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50">
                <a:solidFill>
                  <a:srgbClr val="6A7B86"/>
                </a:solidFill>
                <a:latin typeface="Verdana"/>
                <a:cs typeface="Verdana"/>
              </a:rPr>
              <a:t>2.</a:t>
            </a:r>
            <a:r>
              <a:rPr dirty="0" sz="1150" spc="-30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0">
                <a:solidFill>
                  <a:srgbClr val="6A7B86"/>
                </a:solidFill>
                <a:latin typeface="Verdana"/>
                <a:cs typeface="Verdana"/>
              </a:rPr>
              <a:t>5x 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115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95">
                <a:solidFill>
                  <a:srgbClr val="6A7B86"/>
                </a:solidFill>
                <a:latin typeface="Verdana"/>
                <a:cs typeface="Verdana"/>
              </a:rPr>
              <a:t>return</a:t>
            </a:r>
            <a:r>
              <a:rPr dirty="0" sz="115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20">
                <a:solidFill>
                  <a:srgbClr val="6A7B86"/>
                </a:solidFill>
                <a:latin typeface="Verdana"/>
                <a:cs typeface="Verdana"/>
              </a:rPr>
              <a:t>on</a:t>
            </a:r>
            <a:r>
              <a:rPr dirty="0" sz="1150" spc="-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selling</a:t>
            </a:r>
            <a:r>
              <a:rPr dirty="0" sz="1150" spc="-1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70">
                <a:solidFill>
                  <a:srgbClr val="6A7B86"/>
                </a:solidFill>
                <a:latin typeface="Verdana"/>
                <a:cs typeface="Verdana"/>
              </a:rPr>
              <a:t>space</a:t>
            </a:r>
            <a:r>
              <a:rPr dirty="0" sz="115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versus</a:t>
            </a:r>
            <a:r>
              <a:rPr dirty="0" sz="115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new</a:t>
            </a:r>
            <a:r>
              <a:rPr dirty="0" sz="1150" spc="-9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0">
                <a:solidFill>
                  <a:srgbClr val="6A7B86"/>
                </a:solidFill>
                <a:latin typeface="Verdana"/>
                <a:cs typeface="Verdana"/>
              </a:rPr>
              <a:t>hypermarkets.</a:t>
            </a: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135"/>
              </a:spcBef>
            </a:pPr>
            <a:endParaRPr sz="1000">
              <a:latin typeface="Verdana"/>
              <a:cs typeface="Verdana"/>
            </a:endParaRPr>
          </a:p>
          <a:p>
            <a:pPr marL="633730" indent="-279400">
              <a:lnSpc>
                <a:spcPct val="100000"/>
              </a:lnSpc>
              <a:buAutoNum type="arabicPeriod" startAt="3"/>
              <a:tabLst>
                <a:tab pos="633730" algn="l"/>
              </a:tabLst>
            </a:pPr>
            <a:r>
              <a:rPr dirty="0" spc="-60"/>
              <a:t>Instrument </a:t>
            </a:r>
            <a:r>
              <a:rPr dirty="0" spc="-50"/>
              <a:t>inventory</a:t>
            </a:r>
            <a:r>
              <a:rPr dirty="0" spc="-90"/>
              <a:t> </a:t>
            </a:r>
            <a:r>
              <a:rPr dirty="0" spc="-30"/>
              <a:t>to</a:t>
            </a:r>
            <a:r>
              <a:rPr dirty="0" spc="-55"/>
              <a:t> </a:t>
            </a:r>
            <a:r>
              <a:rPr dirty="0" spc="-110"/>
              <a:t>act</a:t>
            </a:r>
            <a:r>
              <a:rPr dirty="0" spc="-60"/>
              <a:t> </a:t>
            </a:r>
            <a:r>
              <a:rPr dirty="0" spc="-65"/>
              <a:t>on</a:t>
            </a:r>
            <a:r>
              <a:rPr dirty="0"/>
              <a:t> </a:t>
            </a:r>
            <a:r>
              <a:rPr dirty="0" spc="-60"/>
              <a:t>the</a:t>
            </a:r>
            <a:r>
              <a:rPr dirty="0" spc="-50"/>
              <a:t> </a:t>
            </a:r>
            <a:r>
              <a:rPr dirty="0" spc="-60"/>
              <a:t>$7.3M</a:t>
            </a:r>
            <a:r>
              <a:rPr dirty="0" spc="-20"/>
              <a:t> </a:t>
            </a:r>
            <a:r>
              <a:rPr dirty="0" spc="-10"/>
              <a:t>risk.</a:t>
            </a:r>
          </a:p>
          <a:p>
            <a:pPr marL="354330">
              <a:lnSpc>
                <a:spcPct val="100000"/>
              </a:lnSpc>
              <a:spcBef>
                <a:spcPts val="935"/>
              </a:spcBef>
            </a:pPr>
            <a:r>
              <a:rPr dirty="0" sz="1150" spc="-90">
                <a:solidFill>
                  <a:srgbClr val="6A7B86"/>
                </a:solidFill>
                <a:latin typeface="Verdana"/>
                <a:cs typeface="Verdana"/>
              </a:rPr>
              <a:t>Start</a:t>
            </a:r>
            <a:r>
              <a:rPr dirty="0" sz="1150" spc="-7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90">
                <a:solidFill>
                  <a:srgbClr val="6A7B86"/>
                </a:solidFill>
                <a:latin typeface="Verdana"/>
                <a:cs typeface="Verdana"/>
              </a:rPr>
              <a:t>with</a:t>
            </a:r>
            <a:r>
              <a:rPr dirty="0" sz="1150" spc="-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Electronics</a:t>
            </a:r>
            <a:r>
              <a:rPr dirty="0" sz="1150" spc="-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40">
                <a:solidFill>
                  <a:srgbClr val="6A7B86"/>
                </a:solidFill>
                <a:latin typeface="Verdana"/>
                <a:cs typeface="Verdana"/>
              </a:rPr>
              <a:t>+</a:t>
            </a:r>
            <a:r>
              <a:rPr dirty="0" sz="1150" spc="-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05">
                <a:solidFill>
                  <a:srgbClr val="6A7B86"/>
                </a:solidFill>
                <a:latin typeface="Verdana"/>
                <a:cs typeface="Verdana"/>
              </a:rPr>
              <a:t>Home</a:t>
            </a:r>
            <a:r>
              <a:rPr dirty="0" sz="115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45">
                <a:solidFill>
                  <a:srgbClr val="6A7B86"/>
                </a:solidFill>
                <a:latin typeface="Verdana"/>
                <a:cs typeface="Verdana"/>
              </a:rPr>
              <a:t>(76%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50">
                <a:solidFill>
                  <a:srgbClr val="6A7B86"/>
                </a:solidFill>
                <a:latin typeface="Verdana"/>
                <a:cs typeface="Verdana"/>
              </a:rPr>
              <a:t>of</a:t>
            </a:r>
            <a:r>
              <a:rPr dirty="0" sz="1150" spc="-1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1150" spc="-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10">
                <a:solidFill>
                  <a:srgbClr val="6A7B86"/>
                </a:solidFill>
                <a:latin typeface="Verdana"/>
                <a:cs typeface="Verdana"/>
              </a:rPr>
              <a:t>exposure);</a:t>
            </a:r>
            <a:r>
              <a:rPr dirty="0" sz="1150" spc="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0">
                <a:solidFill>
                  <a:srgbClr val="6A7B86"/>
                </a:solidFill>
                <a:latin typeface="Verdana"/>
                <a:cs typeface="Verdana"/>
              </a:rPr>
              <a:t>convert</a:t>
            </a:r>
            <a:r>
              <a:rPr dirty="0" sz="1150" spc="-6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25">
                <a:solidFill>
                  <a:srgbClr val="6A7B86"/>
                </a:solidFill>
                <a:latin typeface="Verdana"/>
                <a:cs typeface="Verdana"/>
              </a:rPr>
              <a:t>a</a:t>
            </a:r>
            <a:r>
              <a:rPr dirty="0" sz="11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70">
                <a:solidFill>
                  <a:srgbClr val="6A7B86"/>
                </a:solidFill>
                <a:latin typeface="Verdana"/>
                <a:cs typeface="Verdana"/>
              </a:rPr>
              <a:t>ceiling</a:t>
            </a:r>
            <a:r>
              <a:rPr dirty="0" sz="1150" spc="-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estimate</a:t>
            </a:r>
            <a:r>
              <a:rPr dirty="0" sz="115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70">
                <a:solidFill>
                  <a:srgbClr val="6A7B86"/>
                </a:solidFill>
                <a:latin typeface="Verdana"/>
                <a:cs typeface="Verdana"/>
              </a:rPr>
              <a:t>into</a:t>
            </a:r>
            <a:r>
              <a:rPr dirty="0" sz="1150" spc="-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90">
                <a:solidFill>
                  <a:srgbClr val="6A7B86"/>
                </a:solidFill>
                <a:latin typeface="Verdana"/>
                <a:cs typeface="Verdana"/>
              </a:rPr>
              <a:t>recovered</a:t>
            </a:r>
            <a:r>
              <a:rPr dirty="0" sz="1150" spc="-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0">
                <a:solidFill>
                  <a:srgbClr val="6A7B86"/>
                </a:solidFill>
                <a:latin typeface="Verdana"/>
                <a:cs typeface="Verdana"/>
              </a:rPr>
              <a:t>sales.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7286" y="4343400"/>
            <a:ext cx="11003280" cy="896619"/>
          </a:xfrm>
          <a:prstGeom prst="rect">
            <a:avLst/>
          </a:prstGeom>
          <a:solidFill>
            <a:srgbClr val="F7F4ED"/>
          </a:solidFill>
        </p:spPr>
        <p:txBody>
          <a:bodyPr wrap="square" lIns="0" tIns="139700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1100"/>
              </a:spcBef>
            </a:pPr>
            <a:r>
              <a:rPr dirty="0" sz="1400">
                <a:solidFill>
                  <a:srgbClr val="12283D"/>
                </a:solidFill>
                <a:latin typeface="Arial Black"/>
                <a:cs typeface="Arial Black"/>
              </a:rPr>
              <a:t>4.</a:t>
            </a:r>
            <a:r>
              <a:rPr dirty="0" sz="1400" spc="46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Lift</a:t>
            </a:r>
            <a:r>
              <a:rPr dirty="0" sz="1400" spc="-6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12283D"/>
                </a:solidFill>
                <a:latin typeface="Arial Black"/>
                <a:cs typeface="Arial Black"/>
              </a:rPr>
              <a:t>loyalty</a:t>
            </a: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5">
                <a:solidFill>
                  <a:srgbClr val="12283D"/>
                </a:solidFill>
                <a:latin typeface="Arial Black"/>
                <a:cs typeface="Arial Black"/>
              </a:rPr>
              <a:t>capture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12283D"/>
                </a:solidFill>
                <a:latin typeface="Arial Black"/>
                <a:cs typeface="Arial Black"/>
              </a:rPr>
              <a:t>above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80">
                <a:solidFill>
                  <a:srgbClr val="12283D"/>
                </a:solidFill>
                <a:latin typeface="Arial Black"/>
                <a:cs typeface="Arial Black"/>
              </a:rPr>
              <a:t>40%</a:t>
            </a:r>
            <a:r>
              <a:rPr dirty="0" sz="1400" spc="-1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2283D"/>
                </a:solidFill>
                <a:latin typeface="Arial Black"/>
                <a:cs typeface="Arial Black"/>
              </a:rPr>
              <a:t>and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2283D"/>
                </a:solidFill>
                <a:latin typeface="Arial Black"/>
                <a:cs typeface="Arial Black"/>
              </a:rPr>
              <a:t>grow</a:t>
            </a:r>
            <a:r>
              <a:rPr dirty="0" sz="1400" spc="-9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5">
                <a:solidFill>
                  <a:srgbClr val="12283D"/>
                </a:solidFill>
                <a:latin typeface="Arial Black"/>
                <a:cs typeface="Arial Black"/>
              </a:rPr>
              <a:t>loyal</a:t>
            </a:r>
            <a:r>
              <a:rPr dirty="0" sz="1400" spc="4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60">
                <a:solidFill>
                  <a:srgbClr val="12283D"/>
                </a:solidFill>
                <a:latin typeface="Arial Black"/>
                <a:cs typeface="Arial Black"/>
              </a:rPr>
              <a:t>spend-</a:t>
            </a:r>
            <a:r>
              <a:rPr dirty="0" sz="1400" spc="-35">
                <a:solidFill>
                  <a:srgbClr val="12283D"/>
                </a:solidFill>
                <a:latin typeface="Arial Black"/>
                <a:cs typeface="Arial Black"/>
              </a:rPr>
              <a:t>per-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visit.</a:t>
            </a:r>
            <a:endParaRPr sz="1400">
              <a:latin typeface="Arial Black"/>
              <a:cs typeface="Arial Black"/>
            </a:endParaRPr>
          </a:p>
          <a:p>
            <a:pPr marL="258445">
              <a:lnSpc>
                <a:spcPct val="100000"/>
              </a:lnSpc>
              <a:spcBef>
                <a:spcPts val="930"/>
              </a:spcBef>
            </a:pP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Retention</a:t>
            </a:r>
            <a:r>
              <a:rPr dirty="0" sz="1150" spc="-2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65">
                <a:solidFill>
                  <a:srgbClr val="6A7B86"/>
                </a:solidFill>
                <a:latin typeface="Verdana"/>
                <a:cs typeface="Verdana"/>
              </a:rPr>
              <a:t>is</a:t>
            </a:r>
            <a:r>
              <a:rPr dirty="0" sz="115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already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75">
                <a:solidFill>
                  <a:srgbClr val="6A7B86"/>
                </a:solidFill>
                <a:latin typeface="Verdana"/>
                <a:cs typeface="Verdana"/>
              </a:rPr>
              <a:t>~70%;</a:t>
            </a:r>
            <a:r>
              <a:rPr dirty="0" sz="1150" spc="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1150" spc="-6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untapped</a:t>
            </a:r>
            <a:r>
              <a:rPr dirty="0" sz="1150" spc="-2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value</a:t>
            </a:r>
            <a:r>
              <a:rPr dirty="0" sz="115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65">
                <a:solidFill>
                  <a:srgbClr val="6A7B86"/>
                </a:solidFill>
                <a:latin typeface="Verdana"/>
                <a:cs typeface="Verdana"/>
              </a:rPr>
              <a:t>is</a:t>
            </a:r>
            <a:r>
              <a:rPr dirty="0" sz="1150" spc="-5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basket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size,</a:t>
            </a:r>
            <a:r>
              <a:rPr dirty="0" sz="1150" spc="3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not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0">
                <a:solidFill>
                  <a:srgbClr val="6A7B86"/>
                </a:solidFill>
                <a:latin typeface="Verdana"/>
                <a:cs typeface="Verdana"/>
              </a:rPr>
              <a:t>churn.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7286" y="5303520"/>
            <a:ext cx="11003280" cy="896619"/>
          </a:xfrm>
          <a:prstGeom prst="rect">
            <a:avLst/>
          </a:prstGeom>
          <a:solidFill>
            <a:srgbClr val="F7F4ED"/>
          </a:solidFill>
        </p:spPr>
        <p:txBody>
          <a:bodyPr wrap="square" lIns="0" tIns="139700" rIns="0" bIns="0" rtlCol="0" vert="horz">
            <a:spAutoFit/>
          </a:bodyPr>
          <a:lstStyle/>
          <a:p>
            <a:pPr marL="258445">
              <a:lnSpc>
                <a:spcPct val="100000"/>
              </a:lnSpc>
              <a:spcBef>
                <a:spcPts val="1100"/>
              </a:spcBef>
            </a:pPr>
            <a:r>
              <a:rPr dirty="0" sz="1400">
                <a:solidFill>
                  <a:srgbClr val="12283D"/>
                </a:solidFill>
                <a:latin typeface="Arial Black"/>
                <a:cs typeface="Arial Black"/>
              </a:rPr>
              <a:t>5.</a:t>
            </a:r>
            <a:r>
              <a:rPr dirty="0" sz="1400" spc="38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55">
                <a:solidFill>
                  <a:srgbClr val="12283D"/>
                </a:solidFill>
                <a:latin typeface="Arial Black"/>
                <a:cs typeface="Arial Black"/>
              </a:rPr>
              <a:t>Certify</a:t>
            </a:r>
            <a:r>
              <a:rPr dirty="0" sz="1400" spc="-9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40">
                <a:solidFill>
                  <a:srgbClr val="12283D"/>
                </a:solidFill>
                <a:latin typeface="Arial Black"/>
                <a:cs typeface="Arial Black"/>
              </a:rPr>
              <a:t>a</a:t>
            </a:r>
            <a:r>
              <a:rPr dirty="0" sz="1400" spc="-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70">
                <a:solidFill>
                  <a:srgbClr val="12283D"/>
                </a:solidFill>
                <a:latin typeface="Arial Black"/>
                <a:cs typeface="Arial Black"/>
              </a:rPr>
              <a:t>single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0">
                <a:solidFill>
                  <a:srgbClr val="12283D"/>
                </a:solidFill>
                <a:latin typeface="Arial Black"/>
                <a:cs typeface="Arial Black"/>
              </a:rPr>
              <a:t>GMV</a:t>
            </a:r>
            <a:r>
              <a:rPr dirty="0" sz="1400" spc="-12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50">
                <a:solidFill>
                  <a:srgbClr val="12283D"/>
                </a:solidFill>
                <a:latin typeface="Arial Black"/>
                <a:cs typeface="Arial Black"/>
              </a:rPr>
              <a:t>definition</a:t>
            </a:r>
            <a:r>
              <a:rPr dirty="0" sz="1400" spc="-20">
                <a:solidFill>
                  <a:srgbClr val="12283D"/>
                </a:solidFill>
                <a:latin typeface="Arial Black"/>
                <a:cs typeface="Arial Black"/>
              </a:rPr>
              <a:t> in </a:t>
            </a:r>
            <a:r>
              <a:rPr dirty="0" sz="1400" spc="-140">
                <a:solidFill>
                  <a:srgbClr val="12283D"/>
                </a:solidFill>
                <a:latin typeface="Arial Black"/>
                <a:cs typeface="Arial Black"/>
              </a:rPr>
              <a:t>a</a:t>
            </a:r>
            <a:r>
              <a:rPr dirty="0" sz="1400" spc="-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0">
                <a:solidFill>
                  <a:srgbClr val="12283D"/>
                </a:solidFill>
                <a:latin typeface="Arial Black"/>
                <a:cs typeface="Arial Black"/>
              </a:rPr>
              <a:t>semantic</a:t>
            </a:r>
            <a:r>
              <a:rPr dirty="0" sz="1400" spc="-15">
                <a:solidFill>
                  <a:srgbClr val="12283D"/>
                </a:solidFill>
                <a:latin typeface="Arial Black"/>
                <a:cs typeface="Arial Black"/>
              </a:rPr>
              <a:t> </a:t>
            </a:r>
            <a:r>
              <a:rPr dirty="0" sz="1400" spc="-10">
                <a:solidFill>
                  <a:srgbClr val="12283D"/>
                </a:solidFill>
                <a:latin typeface="Arial Black"/>
                <a:cs typeface="Arial Black"/>
              </a:rPr>
              <a:t>layer.</a:t>
            </a:r>
            <a:endParaRPr sz="1400">
              <a:latin typeface="Arial Black"/>
              <a:cs typeface="Arial Black"/>
            </a:endParaRPr>
          </a:p>
          <a:p>
            <a:pPr marL="258445">
              <a:lnSpc>
                <a:spcPct val="100000"/>
              </a:lnSpc>
              <a:spcBef>
                <a:spcPts val="930"/>
              </a:spcBef>
            </a:pP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Closes</a:t>
            </a:r>
            <a:r>
              <a:rPr dirty="0" sz="115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115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80">
                <a:solidFill>
                  <a:srgbClr val="6A7B86"/>
                </a:solidFill>
                <a:latin typeface="Verdana"/>
                <a:cs typeface="Verdana"/>
              </a:rPr>
              <a:t>1%</a:t>
            </a:r>
            <a:r>
              <a:rPr dirty="0" sz="1150" spc="-8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05">
                <a:solidFill>
                  <a:srgbClr val="6A7B86"/>
                </a:solidFill>
                <a:latin typeface="Verdana"/>
                <a:cs typeface="Verdana"/>
              </a:rPr>
              <a:t>header-</a:t>
            </a:r>
            <a:r>
              <a:rPr dirty="0" sz="1150" spc="-75">
                <a:solidFill>
                  <a:srgbClr val="6A7B86"/>
                </a:solidFill>
                <a:latin typeface="Verdana"/>
                <a:cs typeface="Verdana"/>
              </a:rPr>
              <a:t>discount</a:t>
            </a:r>
            <a:r>
              <a:rPr dirty="0" sz="1150" spc="-7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0">
                <a:solidFill>
                  <a:srgbClr val="6A7B86"/>
                </a:solidFill>
                <a:latin typeface="Verdana"/>
                <a:cs typeface="Verdana"/>
              </a:rPr>
              <a:t>gap</a:t>
            </a:r>
            <a:r>
              <a:rPr dirty="0" sz="1150" spc="-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00">
                <a:solidFill>
                  <a:srgbClr val="6A7B86"/>
                </a:solidFill>
                <a:latin typeface="Verdana"/>
                <a:cs typeface="Verdana"/>
              </a:rPr>
              <a:t>and</a:t>
            </a:r>
            <a:r>
              <a:rPr dirty="0" sz="1150" spc="-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0">
                <a:solidFill>
                  <a:srgbClr val="6A7B86"/>
                </a:solidFill>
                <a:latin typeface="Verdana"/>
                <a:cs typeface="Verdana"/>
              </a:rPr>
              <a:t>prevents</a:t>
            </a:r>
            <a:r>
              <a:rPr dirty="0" sz="1150" spc="-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65">
                <a:solidFill>
                  <a:srgbClr val="6A7B86"/>
                </a:solidFill>
                <a:latin typeface="Verdana"/>
                <a:cs typeface="Verdana"/>
              </a:rPr>
              <a:t>conflicting</a:t>
            </a:r>
            <a:r>
              <a:rPr dirty="0" sz="1150" spc="-1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90">
                <a:solidFill>
                  <a:srgbClr val="6A7B86"/>
                </a:solidFill>
                <a:latin typeface="Verdana"/>
                <a:cs typeface="Verdana"/>
              </a:rPr>
              <a:t>numbers</a:t>
            </a:r>
            <a:r>
              <a:rPr dirty="0" sz="1150" spc="-45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80">
                <a:solidFill>
                  <a:srgbClr val="6A7B86"/>
                </a:solidFill>
                <a:latin typeface="Verdana"/>
                <a:cs typeface="Verdana"/>
              </a:rPr>
              <a:t>across</a:t>
            </a:r>
            <a:r>
              <a:rPr dirty="0" sz="1150" spc="-50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1150" spc="-10">
                <a:solidFill>
                  <a:srgbClr val="6A7B86"/>
                </a:solidFill>
                <a:latin typeface="Verdana"/>
                <a:cs typeface="Verdana"/>
              </a:rPr>
              <a:t>reports.</a:t>
            </a:r>
            <a:endParaRPr sz="115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35940" y="6442354"/>
            <a:ext cx="5638800" cy="1581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Prepared</a:t>
            </a:r>
            <a:r>
              <a:rPr dirty="0" sz="850" spc="-7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10" i="1">
                <a:solidFill>
                  <a:srgbClr val="6A7B86"/>
                </a:solidFill>
                <a:latin typeface="Verdana"/>
                <a:cs typeface="Verdana"/>
              </a:rPr>
              <a:t>for</a:t>
            </a:r>
            <a:r>
              <a:rPr dirty="0" sz="850" spc="-10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850" spc="-2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VP</a:t>
            </a:r>
            <a:r>
              <a:rPr dirty="0" sz="850" spc="-6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i="1">
                <a:solidFill>
                  <a:srgbClr val="6A7B86"/>
                </a:solidFill>
                <a:latin typeface="Verdana"/>
                <a:cs typeface="Verdana"/>
              </a:rPr>
              <a:t>of</a:t>
            </a:r>
            <a:r>
              <a:rPr dirty="0" sz="850" spc="-16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Operations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110" i="1">
                <a:solidFill>
                  <a:srgbClr val="6A7B86"/>
                </a:solidFill>
                <a:latin typeface="Verdana"/>
                <a:cs typeface="Verdana"/>
              </a:rPr>
              <a:t>-</a:t>
            </a:r>
            <a:r>
              <a:rPr dirty="0" sz="850" spc="-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figures</a:t>
            </a:r>
            <a:r>
              <a:rPr dirty="0" sz="850" spc="-4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reproducible</a:t>
            </a:r>
            <a:r>
              <a:rPr dirty="0" sz="850" spc="-2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from</a:t>
            </a: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the</a:t>
            </a:r>
            <a:r>
              <a:rPr dirty="0" sz="850" spc="-20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accompanying</a:t>
            </a:r>
            <a:r>
              <a:rPr dirty="0" sz="850" spc="-2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65" i="1">
                <a:solidFill>
                  <a:srgbClr val="6A7B86"/>
                </a:solidFill>
                <a:latin typeface="Verdana"/>
                <a:cs typeface="Verdana"/>
              </a:rPr>
              <a:t>SQL,</a:t>
            </a:r>
            <a:r>
              <a:rPr dirty="0" sz="850" spc="8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30" i="1">
                <a:solidFill>
                  <a:srgbClr val="6A7B86"/>
                </a:solidFill>
                <a:latin typeface="Verdana"/>
                <a:cs typeface="Verdana"/>
              </a:rPr>
              <a:t>analysis</a:t>
            </a:r>
            <a:r>
              <a:rPr dirty="0" sz="850" spc="-3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20" i="1">
                <a:solidFill>
                  <a:srgbClr val="6A7B86"/>
                </a:solidFill>
                <a:latin typeface="Verdana"/>
                <a:cs typeface="Verdana"/>
              </a:rPr>
              <a:t>and</a:t>
            </a:r>
            <a:r>
              <a:rPr dirty="0" sz="850" spc="-75" i="1">
                <a:solidFill>
                  <a:srgbClr val="6A7B86"/>
                </a:solidFill>
                <a:latin typeface="Verdana"/>
                <a:cs typeface="Verdana"/>
              </a:rPr>
              <a:t> </a:t>
            </a:r>
            <a:r>
              <a:rPr dirty="0" sz="850" spc="-10" i="1">
                <a:solidFill>
                  <a:srgbClr val="6A7B86"/>
                </a:solidFill>
                <a:latin typeface="Verdana"/>
                <a:cs typeface="Verdana"/>
              </a:rPr>
              <a:t>dashboard.</a:t>
            </a:r>
            <a:endParaRPr sz="8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2026-06-05T14:10:41Z</dcterms:created>
  <dcterms:modified xsi:type="dcterms:W3CDTF">2026-06-05T14:10:41Z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2026-06-05T00:00:00Z</vt:filetime>
  </property>
  <property fmtid="{D5CDD505-2E9C-101B-9397-08002B2CF9AE}" pid="4" name="Creator">
    <vt:lpwstr>Matplotlib v3.10.8, https://matplotlib.org</vt:lpwstr>
  </property>
  <property fmtid="{D5CDD505-2E9C-101B-9397-08002B2CF9AE}" pid="5" name="Producer">
    <vt:lpwstr>Matplotlib pdf backend v3.10.8</vt:lpwstr>
  </property>
  <property fmtid="{D5CDD505-2E9C-101B-9397-08002B2CF9AE}" pid="6" name="LastSaved">
    <vt:filetime>2026-06-05T00:00:00Z</vt:filetime>
  </property>
</Properties>
</file>